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255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9867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9728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498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951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379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74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119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74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621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5214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262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788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9283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9810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304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01C06-6985-402B-91F2-CB77C6E6F40B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44C65F6-53CF-4335-9E83-A9F879B817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008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Introduction to Graphics</a:t>
            </a:r>
            <a:br>
              <a:rPr lang="en-US" sz="5400" b="1" dirty="0"/>
            </a:br>
            <a:r>
              <a:rPr lang="en-US" sz="5400" b="1" dirty="0"/>
              <a:t>Lecture 5</a:t>
            </a:r>
            <a:endParaRPr lang="en-CA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Drawing and Transforming Triangles</a:t>
            </a:r>
          </a:p>
          <a:p>
            <a:endParaRPr lang="en-US" dirty="0"/>
          </a:p>
          <a:p>
            <a:r>
              <a:rPr lang="en-US" b="1" dirty="0"/>
              <a:t>Dr. Ubaid Abbasi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770768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Objectives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</a:t>
            </a:r>
            <a:r>
              <a:rPr lang="en-US" sz="3200" dirty="0"/>
              <a:t>Understanding the critical role of Shapes/Triangles </a:t>
            </a:r>
          </a:p>
          <a:p>
            <a:r>
              <a:rPr lang="en-US" sz="3200" dirty="0"/>
              <a:t> Using multiple triangles to draw other basic shapes</a:t>
            </a:r>
          </a:p>
          <a:p>
            <a:r>
              <a:rPr lang="en-US" sz="3200" dirty="0"/>
              <a:t> Basic transformation that move, rotate and scale triangles using simple question</a:t>
            </a:r>
          </a:p>
          <a:p>
            <a:r>
              <a:rPr lang="en-US" sz="3200" dirty="0"/>
              <a:t> How matrix operations make transformation simple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9186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Draw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Multiple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Points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399"/>
          <a:stretch/>
        </p:blipFill>
        <p:spPr>
          <a:xfrm>
            <a:off x="343974" y="1296786"/>
            <a:ext cx="11774444" cy="474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9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Drawing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Multiple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Points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so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far</a:t>
            </a:r>
            <a:r>
              <a:rPr lang="en-US" dirty="0">
                <a:solidFill>
                  <a:srgbClr val="FF0000"/>
                </a:solidFill>
              </a:rPr>
              <a:t>)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78" y="4438997"/>
            <a:ext cx="10515600" cy="2152996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/>
              <a:t>Useful only for single point. We need to simultaneously pass multiple vertices to the </a:t>
            </a:r>
            <a:r>
              <a:rPr lang="en-US" sz="11200" dirty="0" err="1"/>
              <a:t>shader</a:t>
            </a:r>
            <a:endParaRPr lang="en-US" sz="11200" dirty="0"/>
          </a:p>
          <a:p>
            <a:endParaRPr lang="en-US" sz="11200" dirty="0"/>
          </a:p>
          <a:p>
            <a:r>
              <a:rPr lang="en-US" sz="11200" dirty="0"/>
              <a:t>WebGL Provides a convenient way to pass multiple vertices using </a:t>
            </a:r>
            <a:r>
              <a:rPr lang="en-US" sz="11200" b="1" dirty="0"/>
              <a:t>Buffer objects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98" y="1690688"/>
            <a:ext cx="7995047" cy="252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5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Multiple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Points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Flow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Chart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757" y="1629296"/>
            <a:ext cx="7287976" cy="52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36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Five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Steps for Multiple Points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290069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Create a buffer object (</a:t>
            </a:r>
            <a:r>
              <a:rPr lang="en-US" sz="3200" i="1" dirty="0" err="1">
                <a:solidFill>
                  <a:srgbClr val="FF0000"/>
                </a:solidFill>
              </a:rPr>
              <a:t>gl.createBuffer</a:t>
            </a:r>
            <a:r>
              <a:rPr lang="en-US" sz="3200" i="1" dirty="0">
                <a:solidFill>
                  <a:srgbClr val="FF0000"/>
                </a:solidFill>
              </a:rPr>
              <a:t>())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Bind the buffer object to a target (</a:t>
            </a:r>
            <a:r>
              <a:rPr lang="en-US" sz="3200" i="1" dirty="0" err="1">
                <a:solidFill>
                  <a:srgbClr val="FF0000"/>
                </a:solidFill>
              </a:rPr>
              <a:t>gl.bindBuffer</a:t>
            </a:r>
            <a:r>
              <a:rPr lang="en-US" sz="3200" i="1" dirty="0">
                <a:solidFill>
                  <a:srgbClr val="FF0000"/>
                </a:solidFill>
              </a:rPr>
              <a:t>()).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Write data into the buffer object (</a:t>
            </a:r>
            <a:r>
              <a:rPr lang="en-US" sz="3200" i="1" dirty="0" err="1">
                <a:solidFill>
                  <a:srgbClr val="FF0000"/>
                </a:solidFill>
              </a:rPr>
              <a:t>gl.bufferData</a:t>
            </a:r>
            <a:r>
              <a:rPr lang="en-US" sz="3200" i="1" dirty="0">
                <a:solidFill>
                  <a:srgbClr val="FF0000"/>
                </a:solidFill>
              </a:rPr>
              <a:t>());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Assign the buffer object to an attribute variable (</a:t>
            </a:r>
            <a:r>
              <a:rPr lang="en-US" sz="3200" i="1" dirty="0" err="1">
                <a:solidFill>
                  <a:srgbClr val="FF0000"/>
                </a:solidFill>
              </a:rPr>
              <a:t>gl.vertexAttribPointer</a:t>
            </a:r>
            <a:r>
              <a:rPr lang="en-US" sz="3200" i="1" dirty="0">
                <a:solidFill>
                  <a:srgbClr val="FF0000"/>
                </a:solidFill>
              </a:rPr>
              <a:t>()).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 Enable assignment (</a:t>
            </a:r>
            <a:r>
              <a:rPr lang="en-US" sz="3200" i="1" dirty="0" err="1">
                <a:solidFill>
                  <a:srgbClr val="FF0000"/>
                </a:solidFill>
              </a:rPr>
              <a:t>gl.enableVertexAttribArray</a:t>
            </a:r>
            <a:r>
              <a:rPr lang="en-US" sz="3200" i="1" dirty="0">
                <a:solidFill>
                  <a:srgbClr val="FF0000"/>
                </a:solidFill>
              </a:rPr>
              <a:t>()).</a:t>
            </a:r>
            <a:endParaRPr lang="en-CA" sz="32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95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14" y="789379"/>
            <a:ext cx="10867647" cy="50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18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Step 1: Create a buffer object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64" r="996" b="8904"/>
          <a:stretch/>
        </p:blipFill>
        <p:spPr>
          <a:xfrm>
            <a:off x="374072" y="1807283"/>
            <a:ext cx="11571317" cy="391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59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2: Bind a buffer object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200" dirty="0"/>
              <a:t>Now, the buffer object need to be </a:t>
            </a:r>
            <a:r>
              <a:rPr lang="en-US" sz="3200" dirty="0" err="1"/>
              <a:t>binded</a:t>
            </a:r>
            <a:r>
              <a:rPr lang="en-US" sz="3200" dirty="0"/>
              <a:t> with Target</a:t>
            </a:r>
          </a:p>
          <a:p>
            <a:endParaRPr lang="en-US" sz="3200" dirty="0"/>
          </a:p>
          <a:p>
            <a:r>
              <a:rPr lang="en-US" sz="3200" dirty="0"/>
              <a:t> The target tells WebGL what type of data the buffer contains so that it deals with content correctly.</a:t>
            </a:r>
          </a:p>
          <a:p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42" y="4795961"/>
            <a:ext cx="8960626" cy="80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69" y="279166"/>
            <a:ext cx="12022667" cy="25402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70" y="2768597"/>
            <a:ext cx="12022667" cy="325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3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123" r="4014"/>
          <a:stretch/>
        </p:blipFill>
        <p:spPr>
          <a:xfrm>
            <a:off x="892103" y="1564793"/>
            <a:ext cx="9935534" cy="339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301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3: Writing Data to Buffer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498" b="13073"/>
          <a:stretch/>
        </p:blipFill>
        <p:spPr>
          <a:xfrm>
            <a:off x="1769628" y="1607351"/>
            <a:ext cx="8255521" cy="431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92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3: Writing Data to Buffer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1" y="1496291"/>
            <a:ext cx="10789920" cy="52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17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4: Assign Buffer Object to Attribute 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9390"/>
          <a:stretch/>
        </p:blipFill>
        <p:spPr>
          <a:xfrm>
            <a:off x="696884" y="1317928"/>
            <a:ext cx="10012211" cy="559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8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Step 5: Enable the Assignment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581"/>
          <a:stretch/>
        </p:blipFill>
        <p:spPr>
          <a:xfrm>
            <a:off x="315885" y="1690688"/>
            <a:ext cx="11172304" cy="446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7476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2930</TotalTime>
  <Words>230</Words>
  <Application>Microsoft Office PowerPoint</Application>
  <PresentationFormat>Widescreen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Introduction to Graphics Lecture 5</vt:lpstr>
      <vt:lpstr>Objectives</vt:lpstr>
      <vt:lpstr>Draw Multiple Points</vt:lpstr>
      <vt:lpstr>Drawing Multiple Points (so far)</vt:lpstr>
      <vt:lpstr>Multiple Points Flow Chart</vt:lpstr>
      <vt:lpstr>Five Steps for Multiple Points</vt:lpstr>
      <vt:lpstr>PowerPoint Presentation</vt:lpstr>
      <vt:lpstr>Step 1: Create a buffer object</vt:lpstr>
      <vt:lpstr>Step 2: Bind a buffer object</vt:lpstr>
      <vt:lpstr>PowerPoint Presentation</vt:lpstr>
      <vt:lpstr>PowerPoint Presentation</vt:lpstr>
      <vt:lpstr>Step 3: Writing Data to Buffer</vt:lpstr>
      <vt:lpstr>Step 3: Writing Data to Buffer</vt:lpstr>
      <vt:lpstr>Step 4: Assign Buffer Object to Attribute </vt:lpstr>
      <vt:lpstr>Step 5: Enable the Assignment</vt:lpstr>
    </vt:vector>
  </TitlesOfParts>
  <Company>GPRC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5</dc:title>
  <dc:creator>Abbasi, Ubaid</dc:creator>
  <cp:lastModifiedBy>Abbasi, Ubaid</cp:lastModifiedBy>
  <cp:revision>10</cp:revision>
  <dcterms:created xsi:type="dcterms:W3CDTF">2018-09-24T15:07:52Z</dcterms:created>
  <dcterms:modified xsi:type="dcterms:W3CDTF">2025-09-23T15:24:26Z</dcterms:modified>
</cp:coreProperties>
</file>