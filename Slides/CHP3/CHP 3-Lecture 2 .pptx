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9" r:id="rId10"/>
    <p:sldId id="277" r:id="rId11"/>
    <p:sldId id="278" r:id="rId12"/>
    <p:sldId id="280" r:id="rId13"/>
    <p:sldId id="281" r:id="rId14"/>
    <p:sldId id="282" r:id="rId15"/>
    <p:sldId id="283" r:id="rId16"/>
    <p:sldId id="284" r:id="rId17"/>
    <p:sldId id="28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980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562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404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878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940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233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8608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203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3102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033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6764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0821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2123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615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8525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100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346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9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Introduction to Graphics</a:t>
            </a:r>
            <a:br>
              <a:rPr lang="en-US" sz="5400" b="1" dirty="0"/>
            </a:br>
            <a:r>
              <a:rPr lang="en-US" sz="5400" b="1" dirty="0"/>
              <a:t>Lecture 5B</a:t>
            </a:r>
            <a:endParaRPr lang="en-CA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Drawing and Transforming Triangles</a:t>
            </a:r>
          </a:p>
          <a:p>
            <a:endParaRPr lang="en-US" dirty="0"/>
          </a:p>
          <a:p>
            <a:r>
              <a:rPr lang="en-US" b="1" dirty="0"/>
              <a:t>Dr. Ubaid Abbasi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77076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Objectives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lang="en-US" sz="3200" dirty="0"/>
              <a:t>Understanding the critical role of Shapes/Triangles </a:t>
            </a:r>
          </a:p>
          <a:p>
            <a:r>
              <a:rPr lang="en-US" sz="3200" dirty="0"/>
              <a:t> Using multiple triangles to draw other basic shapes</a:t>
            </a:r>
          </a:p>
          <a:p>
            <a:r>
              <a:rPr lang="en-US" sz="3200" dirty="0"/>
              <a:t> Basic transformation that move, rotate and scale triangles using simple question</a:t>
            </a:r>
          </a:p>
          <a:p>
            <a:r>
              <a:rPr lang="en-US" sz="3200" dirty="0"/>
              <a:t> How matrix operations make transformation simple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191862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603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Passing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Multiple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Vertices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6" y="1202266"/>
            <a:ext cx="11510967" cy="565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4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Typed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Arrays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sz="3200" dirty="0"/>
              <a:t>WebGL often deals with large quantities of data of the same type, such as vertex coordinates and colors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 For optimization purposes, a special type of array (typed array) has been introduced for each data type</a:t>
            </a:r>
          </a:p>
          <a:p>
            <a:endParaRPr lang="en-US" sz="3200" dirty="0"/>
          </a:p>
          <a:p>
            <a:r>
              <a:rPr lang="en-US" sz="3200" dirty="0"/>
              <a:t> The data type is known in advance so it can be handled efficiently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149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279" b="6277"/>
          <a:stretch/>
        </p:blipFill>
        <p:spPr>
          <a:xfrm>
            <a:off x="70773" y="91440"/>
            <a:ext cx="12121227" cy="655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27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Second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Third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Parameters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of</a:t>
            </a:r>
            <a:r>
              <a:rPr lang="en-US" dirty="0"/>
              <a:t> </a:t>
            </a:r>
            <a:r>
              <a:rPr lang="en-US" b="1" dirty="0" err="1">
                <a:solidFill>
                  <a:srgbClr val="C00000"/>
                </a:solidFill>
              </a:rPr>
              <a:t>gl.drawArrays</a:t>
            </a:r>
            <a:r>
              <a:rPr lang="en-US" dirty="0">
                <a:solidFill>
                  <a:srgbClr val="C00000"/>
                </a:solidFill>
              </a:rPr>
              <a:t>()</a:t>
            </a:r>
            <a:endParaRPr lang="en-CA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0731"/>
            <a:ext cx="11814202" cy="45030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3" y="1690688"/>
            <a:ext cx="8164126" cy="69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87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4562"/>
          <a:stretch/>
        </p:blipFill>
        <p:spPr>
          <a:xfrm>
            <a:off x="183588" y="8319"/>
            <a:ext cx="8283601" cy="47465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4548" b="7847"/>
          <a:stretch/>
        </p:blipFill>
        <p:spPr>
          <a:xfrm>
            <a:off x="263238" y="4821382"/>
            <a:ext cx="8203951" cy="204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20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587" y="1002116"/>
            <a:ext cx="8004826" cy="485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724" y="1659916"/>
            <a:ext cx="5336551" cy="353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6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Transformation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Operations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The </a:t>
            </a:r>
            <a:r>
              <a:rPr lang="en-US" sz="3200" dirty="0">
                <a:solidFill>
                  <a:srgbClr val="FF0000"/>
                </a:solidFill>
              </a:rPr>
              <a:t>movement</a:t>
            </a:r>
            <a:r>
              <a:rPr lang="en-US" sz="3200" dirty="0"/>
              <a:t> , </a:t>
            </a:r>
            <a:r>
              <a:rPr lang="en-US" sz="3200" dirty="0">
                <a:solidFill>
                  <a:srgbClr val="FF0000"/>
                </a:solidFill>
              </a:rPr>
              <a:t>rotation</a:t>
            </a:r>
            <a:r>
              <a:rPr lang="en-US" sz="3200" dirty="0"/>
              <a:t> and </a:t>
            </a:r>
            <a:r>
              <a:rPr lang="en-US" sz="3200" dirty="0">
                <a:solidFill>
                  <a:srgbClr val="FF0000"/>
                </a:solidFill>
              </a:rPr>
              <a:t>scaling</a:t>
            </a:r>
            <a:r>
              <a:rPr lang="en-US" sz="3200" dirty="0"/>
              <a:t> are normally referred as transformation operations.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892899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7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Translation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40" y="1549829"/>
            <a:ext cx="4619701" cy="299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157" y="1989910"/>
            <a:ext cx="1393875" cy="15647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307" y="4101249"/>
            <a:ext cx="4978126" cy="1634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9913" y="6201295"/>
            <a:ext cx="9626138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Remember W2 must be zero if W1=1, in order to use 3 Dimensional coordinates</a:t>
            </a:r>
            <a:endParaRPr lang="en-CA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95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30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Rotation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316" y="1825625"/>
            <a:ext cx="1158932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The following three actions are required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Rotation Axis </a:t>
            </a:r>
            <a:r>
              <a:rPr lang="en-US" sz="2800" dirty="0"/>
              <a:t>(the axis the shape will be rotated around)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Rotation Direction </a:t>
            </a:r>
            <a:r>
              <a:rPr lang="en-US" sz="2800" dirty="0"/>
              <a:t>( the direction: clockwise or counter clockwise)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Rotation Angle </a:t>
            </a:r>
            <a:r>
              <a:rPr lang="en-US" sz="2800" dirty="0"/>
              <a:t>(the number of degrees the shape will be rotated through)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669799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66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Rotation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3797"/>
            <a:ext cx="6925887" cy="5406508"/>
          </a:xfrm>
        </p:spPr>
        <p:txBody>
          <a:bodyPr>
            <a:noAutofit/>
          </a:bodyPr>
          <a:lstStyle/>
          <a:p>
            <a:r>
              <a:rPr lang="en-US" sz="3200" dirty="0"/>
              <a:t> </a:t>
            </a:r>
            <a:r>
              <a:rPr lang="en-US" sz="2800" dirty="0"/>
              <a:t>If you take your right hand  and have your thumb follow the direction of rotation axis, your fingers show the direction of rotation</a:t>
            </a:r>
          </a:p>
          <a:p>
            <a:endParaRPr lang="en-US" sz="2800" dirty="0"/>
          </a:p>
          <a:p>
            <a:r>
              <a:rPr lang="en-US" sz="2800" dirty="0"/>
              <a:t> This is called </a:t>
            </a:r>
            <a:r>
              <a:rPr lang="en-US" sz="2800" dirty="0">
                <a:solidFill>
                  <a:srgbClr val="FF0000"/>
                </a:solidFill>
              </a:rPr>
              <a:t>Right-hand-rule- rotation</a:t>
            </a: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/>
              <a:t> In the rotation if </a:t>
            </a:r>
            <a:r>
              <a:rPr lang="el-GR" sz="2800" dirty="0"/>
              <a:t>β</a:t>
            </a:r>
            <a:r>
              <a:rPr lang="en-US" sz="2800" dirty="0"/>
              <a:t> is positive, the rotation is performed in a counterclockwise direction. This is </a:t>
            </a:r>
            <a:r>
              <a:rPr lang="en-US" sz="2800" dirty="0">
                <a:solidFill>
                  <a:srgbClr val="FF0000"/>
                </a:solidFill>
              </a:rPr>
              <a:t>Positive rotation</a:t>
            </a:r>
            <a:endParaRPr lang="en-CA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882" y="3130000"/>
            <a:ext cx="3624075" cy="27707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225" y="365125"/>
            <a:ext cx="2827575" cy="217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94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389" y="12405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Rotation</a:t>
            </a: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013" y="1118320"/>
            <a:ext cx="3624075" cy="27707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01" y="2229604"/>
            <a:ext cx="7248151" cy="3318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5636" y="5203767"/>
            <a:ext cx="1014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We can use addition theorem of trigonometric function. Remember?</a:t>
            </a:r>
            <a:endParaRPr lang="en-CA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4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Rotation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465997"/>
            <a:ext cx="3026700" cy="926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261" y="1617084"/>
            <a:ext cx="3624075" cy="27707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950" y="5307479"/>
            <a:ext cx="2947050" cy="508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195" y="2667702"/>
            <a:ext cx="1792125" cy="11561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0020" y="3772974"/>
            <a:ext cx="5993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After applying addition theorem we get,</a:t>
            </a:r>
            <a:endParaRPr lang="en-CA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244950" y="4875006"/>
            <a:ext cx="2327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Addition Theorem</a:t>
            </a:r>
            <a:endParaRPr lang="en-CA" b="1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7195" y="1453612"/>
            <a:ext cx="1473525" cy="9368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91098" y="1690688"/>
            <a:ext cx="2928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Eq. 1</a:t>
            </a:r>
            <a:endParaRPr lang="en-CA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488873" y="4560115"/>
            <a:ext cx="223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Eq. 2</a:t>
            </a:r>
            <a:endParaRPr lang="en-CA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16131" y="5561629"/>
            <a:ext cx="5594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Applying Equation 1 on Equation 2</a:t>
            </a:r>
            <a:endParaRPr lang="en-CA" b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3646" y="5439102"/>
            <a:ext cx="2309850" cy="132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99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Rotated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Triangle. JS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61" y="1434973"/>
            <a:ext cx="7351981" cy="312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74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Rotated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Triangle. JS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27" y="2914214"/>
            <a:ext cx="5933926" cy="13953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7" y="2260406"/>
            <a:ext cx="1831950" cy="4086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2" y="4845373"/>
            <a:ext cx="2947050" cy="6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0266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3878</TotalTime>
  <Words>295</Words>
  <Application>Microsoft Office PowerPoint</Application>
  <PresentationFormat>Widescreen</PresentationFormat>
  <Paragraphs>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Wisp</vt:lpstr>
      <vt:lpstr>Introduction to Graphics Lecture 5B</vt:lpstr>
      <vt:lpstr>Objectives</vt:lpstr>
      <vt:lpstr>Passing Multiple Vertices</vt:lpstr>
      <vt:lpstr>Typed Arrays</vt:lpstr>
      <vt:lpstr>PowerPoint Presentation</vt:lpstr>
      <vt:lpstr>Second &amp; Third Parameters of gl.drawArrays()</vt:lpstr>
      <vt:lpstr>PowerPoint Presentation</vt:lpstr>
      <vt:lpstr>PowerPoint Presentation</vt:lpstr>
      <vt:lpstr>PowerPoint Presentation</vt:lpstr>
      <vt:lpstr>Transformation Operations</vt:lpstr>
      <vt:lpstr>Translation</vt:lpstr>
      <vt:lpstr>Rotation</vt:lpstr>
      <vt:lpstr>Rotation</vt:lpstr>
      <vt:lpstr>Rotation</vt:lpstr>
      <vt:lpstr>Rotation</vt:lpstr>
      <vt:lpstr>Rotated Triangle. JS</vt:lpstr>
      <vt:lpstr>Rotated Triangle. JS</vt:lpstr>
    </vt:vector>
  </TitlesOfParts>
  <Company>GPRC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Graphics Lecture 5</dc:title>
  <dc:creator>Abbasi, Ubaid</dc:creator>
  <cp:lastModifiedBy>Abbasi, Ubaid</cp:lastModifiedBy>
  <cp:revision>22</cp:revision>
  <dcterms:created xsi:type="dcterms:W3CDTF">2018-09-24T15:07:52Z</dcterms:created>
  <dcterms:modified xsi:type="dcterms:W3CDTF">2025-09-23T15:26:04Z</dcterms:modified>
</cp:coreProperties>
</file>