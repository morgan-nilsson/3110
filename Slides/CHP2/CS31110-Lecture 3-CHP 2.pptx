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82" r:id="rId5"/>
    <p:sldId id="283" r:id="rId6"/>
    <p:sldId id="284" r:id="rId7"/>
    <p:sldId id="285" r:id="rId8"/>
    <p:sldId id="259" r:id="rId9"/>
    <p:sldId id="286" r:id="rId10"/>
    <p:sldId id="281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11"/>
  </p:normalViewPr>
  <p:slideViewPr>
    <p:cSldViewPr snapToGrid="0" snapToObjects="1" showGuides="1">
      <p:cViewPr varScale="1">
        <p:scale>
          <a:sx n="59" d="100"/>
          <a:sy n="59" d="100"/>
        </p:scale>
        <p:origin x="76" y="2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6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837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036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4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7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938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222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4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50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77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1923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21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2364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985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60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44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9A2581-1196-AC4D-B1BE-61A12FEA43E6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42D040F-5506-9D43-BFF1-7AE7A9062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646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Introduction to Graphics</a:t>
            </a:r>
            <a:br>
              <a:rPr lang="en-US" b="1" dirty="0"/>
            </a:br>
            <a:r>
              <a:rPr lang="en-US" b="1" dirty="0"/>
              <a:t>Lecture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Ubaid Abbasi</a:t>
            </a:r>
          </a:p>
        </p:txBody>
      </p:sp>
    </p:spTree>
    <p:extLst>
      <p:ext uri="{BB962C8B-B14F-4D97-AF65-F5344CB8AC3E}">
        <p14:creationId xmlns:p14="http://schemas.microsoft.com/office/powerpoint/2010/main" val="1075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 Register Event Handler	</a:t>
            </a:r>
          </a:p>
          <a:p>
            <a:r>
              <a:rPr lang="en-US" sz="3600" dirty="0"/>
              <a:t> Handling Mouse Click Events</a:t>
            </a:r>
          </a:p>
          <a:p>
            <a:r>
              <a:rPr lang="en-US" sz="3600" dirty="0"/>
              <a:t> Using Array for Drawing points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99330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Register Event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1690688"/>
            <a:ext cx="10515600" cy="4991466"/>
          </a:xfrm>
        </p:spPr>
        <p:txBody>
          <a:bodyPr>
            <a:normAutofit/>
          </a:bodyPr>
          <a:lstStyle/>
          <a:p>
            <a:r>
              <a:rPr lang="en-US" sz="3200" dirty="0"/>
              <a:t> An </a:t>
            </a:r>
            <a:r>
              <a:rPr lang="en-US" sz="3200" dirty="0">
                <a:solidFill>
                  <a:srgbClr val="FF0000"/>
                </a:solidFill>
              </a:rPr>
              <a:t>event handler </a:t>
            </a:r>
            <a:r>
              <a:rPr lang="en-US" sz="3200" dirty="0"/>
              <a:t>is an asynchronous </a:t>
            </a:r>
            <a:r>
              <a:rPr lang="en-US" sz="3200" dirty="0">
                <a:solidFill>
                  <a:srgbClr val="FF0000"/>
                </a:solidFill>
              </a:rPr>
              <a:t>callback function </a:t>
            </a:r>
            <a:r>
              <a:rPr lang="en-US" sz="3200" dirty="0"/>
              <a:t>that handles input on a webpage from a user, such as mouse clicks or keypresses.</a:t>
            </a:r>
          </a:p>
          <a:p>
            <a:r>
              <a:rPr lang="en-US" sz="3200" dirty="0"/>
              <a:t> Allows you to create dynamic webpages that can change the content that’s displayed according to user’s input.</a:t>
            </a:r>
          </a:p>
          <a:p>
            <a:r>
              <a:rPr lang="en-US" sz="3200" dirty="0"/>
              <a:t> To use an event handler , you need to register it  (tell the system what code to run when the event occur)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68" y="5232760"/>
            <a:ext cx="8920801" cy="124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Anonymous Function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3906"/>
          </a:xfrm>
        </p:spPr>
        <p:txBody>
          <a:bodyPr/>
          <a:lstStyle/>
          <a:p>
            <a:r>
              <a:rPr lang="en-US" dirty="0"/>
              <a:t> It is a convenient mechanism when you define a function that doesn't need to have a name.</a:t>
            </a:r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17360" b="15595"/>
          <a:stretch/>
        </p:blipFill>
        <p:spPr>
          <a:xfrm>
            <a:off x="1200640" y="2746253"/>
            <a:ext cx="8841151" cy="6682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3" y="4200159"/>
            <a:ext cx="5796983" cy="133020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756" y="4205336"/>
            <a:ext cx="5266244" cy="11202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05807" y="5747111"/>
            <a:ext cx="5987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What's the difference between these two functions?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5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Why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Anonymous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Function?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430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 For drawing points we need following three variables </a:t>
            </a:r>
            <a:r>
              <a:rPr lang="en-US" sz="3200" dirty="0" err="1">
                <a:solidFill>
                  <a:srgbClr val="FF0000"/>
                </a:solidFill>
              </a:rPr>
              <a:t>gl</a:t>
            </a:r>
            <a:r>
              <a:rPr lang="en-US" sz="3200" dirty="0"/>
              <a:t>, </a:t>
            </a:r>
            <a:r>
              <a:rPr lang="en-US" sz="3200" dirty="0">
                <a:solidFill>
                  <a:srgbClr val="FF0000"/>
                </a:solidFill>
              </a:rPr>
              <a:t>canvas</a:t>
            </a:r>
            <a:r>
              <a:rPr lang="en-US" sz="3200" dirty="0"/>
              <a:t> and </a:t>
            </a:r>
            <a:r>
              <a:rPr lang="en-US" sz="3200" dirty="0">
                <a:solidFill>
                  <a:srgbClr val="FF0000"/>
                </a:solidFill>
              </a:rPr>
              <a:t>a_position</a:t>
            </a:r>
            <a:r>
              <a:rPr lang="en-US" sz="3200" dirty="0"/>
              <a:t>.</a:t>
            </a:r>
          </a:p>
          <a:p>
            <a:r>
              <a:rPr lang="en-US" sz="3200" dirty="0"/>
              <a:t> All these are local variables prepared in the function main() in the java script program.</a:t>
            </a:r>
          </a:p>
          <a:p>
            <a:r>
              <a:rPr lang="en-US" sz="3200" dirty="0"/>
              <a:t> Anonymous function allows you to access local variables defined in main().</a:t>
            </a:r>
          </a:p>
          <a:p>
            <a:r>
              <a:rPr lang="en-US" sz="3200" dirty="0"/>
              <a:t> Although it seems complicated but it is very flexible and avoids the use of global variable which is always good.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1709017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Handling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Mouse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Click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Event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200" dirty="0"/>
              <a:t>Lets look what the function </a:t>
            </a:r>
            <a:r>
              <a:rPr lang="en-US" sz="3200" dirty="0">
                <a:solidFill>
                  <a:srgbClr val="FF0000"/>
                </a:solidFill>
              </a:rPr>
              <a:t>click() </a:t>
            </a:r>
            <a:r>
              <a:rPr lang="en-US" sz="3200" dirty="0"/>
              <a:t>is doing?</a:t>
            </a:r>
          </a:p>
          <a:p>
            <a:endParaRPr lang="en-CA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8" y="3429000"/>
            <a:ext cx="11166231" cy="26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33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Handling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Mouse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Click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Event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7737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 The information about the position of mouse click is stored as an event object and passed by the browser using the argument</a:t>
            </a:r>
            <a:r>
              <a:rPr lang="en-US" sz="3200" b="1" i="1" dirty="0">
                <a:solidFill>
                  <a:srgbClr val="FF0000"/>
                </a:solidFill>
              </a:rPr>
              <a:t> </a:t>
            </a:r>
            <a:r>
              <a:rPr lang="en-US" sz="3200" b="1" i="1" dirty="0" err="1">
                <a:solidFill>
                  <a:srgbClr val="FF0000"/>
                </a:solidFill>
              </a:rPr>
              <a:t>ev</a:t>
            </a:r>
            <a:r>
              <a:rPr lang="en-US" sz="3200" b="1" i="1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to the function </a:t>
            </a:r>
            <a:r>
              <a:rPr lang="en-US" sz="3200" b="1" dirty="0">
                <a:solidFill>
                  <a:srgbClr val="FF0000"/>
                </a:solidFill>
              </a:rPr>
              <a:t>click()</a:t>
            </a:r>
          </a:p>
          <a:p>
            <a:endParaRPr lang="en-US" sz="3200" b="1" dirty="0">
              <a:solidFill>
                <a:srgbClr val="FF0000"/>
              </a:solidFill>
            </a:endParaRPr>
          </a:p>
          <a:p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ev</a:t>
            </a:r>
            <a:r>
              <a:rPr lang="en-US" sz="3200" dirty="0"/>
              <a:t> holds the position information and you can get the coordinates by using the </a:t>
            </a:r>
            <a:r>
              <a:rPr lang="en-US" sz="3200" dirty="0" err="1">
                <a:solidFill>
                  <a:srgbClr val="FF0000"/>
                </a:solidFill>
              </a:rPr>
              <a:t>ev.clientX</a:t>
            </a:r>
            <a:r>
              <a:rPr lang="en-US" sz="3200" dirty="0"/>
              <a:t> and </a:t>
            </a:r>
            <a:r>
              <a:rPr lang="en-US" sz="3200" dirty="0" err="1">
                <a:solidFill>
                  <a:srgbClr val="FF0000"/>
                </a:solidFill>
              </a:rPr>
              <a:t>ev.client</a:t>
            </a:r>
            <a:endParaRPr lang="en-US" sz="3200" dirty="0">
              <a:solidFill>
                <a:srgbClr val="FF0000"/>
              </a:solidFill>
            </a:endParaRPr>
          </a:p>
          <a:p>
            <a:endParaRPr lang="en-US" sz="3200" dirty="0">
              <a:solidFill>
                <a:srgbClr val="FF0000"/>
              </a:solidFill>
            </a:endParaRPr>
          </a:p>
          <a:p>
            <a:r>
              <a:rPr lang="en-US" sz="3200" dirty="0"/>
              <a:t>The coordinate is the position in the “client area” in the browser, not in the &lt;canvas&gt; 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3850362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Remember!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200" dirty="0"/>
              <a:t>Defining the drawing area using </a:t>
            </a:r>
            <a:r>
              <a:rPr lang="en-US" sz="3200" dirty="0">
                <a:solidFill>
                  <a:srgbClr val="FF0000"/>
                </a:solidFill>
              </a:rPr>
              <a:t>&lt;canvas&gt; </a:t>
            </a:r>
            <a:r>
              <a:rPr lang="en-US" sz="3200" dirty="0"/>
              <a:t>element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sz="3200" dirty="0"/>
              <a:t>Import several other JavaScript files which provides useful convenience functions that help </a:t>
            </a:r>
            <a:r>
              <a:rPr lang="en-US" sz="3200" dirty="0" err="1"/>
              <a:t>WebGL</a:t>
            </a:r>
            <a:r>
              <a:rPr lang="en-US" sz="3200" dirty="0"/>
              <a:t> programming. Similar to libraries.</a:t>
            </a:r>
          </a:p>
          <a:p>
            <a:endParaRPr lang="en-US" sz="32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137" y="2807637"/>
            <a:ext cx="6898105" cy="162025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612983"/>
            <a:ext cx="5301343" cy="108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92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Handling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Mouse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Click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Event</a:t>
            </a:r>
            <a:endParaRPr lang="en-CA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930" y="2133356"/>
            <a:ext cx="91400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71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Handling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Mouse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Click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Event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</a:t>
            </a:r>
            <a:r>
              <a:rPr lang="en-US" sz="3200" dirty="0"/>
              <a:t>The coordinate system of the &lt;canvas&gt; is different from that of </a:t>
            </a:r>
            <a:r>
              <a:rPr lang="en-US" sz="3200" dirty="0" err="1"/>
              <a:t>WebGL</a:t>
            </a:r>
            <a:r>
              <a:rPr lang="en-US" sz="3200" dirty="0"/>
              <a:t> in terms of their origin and the direction of the Y-axis. </a:t>
            </a:r>
            <a:r>
              <a:rPr lang="en-US" sz="3200" b="1" dirty="0">
                <a:solidFill>
                  <a:srgbClr val="FF0000"/>
                </a:solidFill>
              </a:rPr>
              <a:t>Two Steps:</a:t>
            </a:r>
          </a:p>
          <a:p>
            <a:endParaRPr lang="en-US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First we need to transform the coordinates from the browser area to the canvas and then</a:t>
            </a:r>
          </a:p>
          <a:p>
            <a:pPr marL="514350" indent="-514350">
              <a:buFont typeface="+mj-lt"/>
              <a:buAutoNum type="arabicPeriod"/>
            </a:pPr>
            <a:endParaRPr lang="en-US" sz="3200" b="1" dirty="0"/>
          </a:p>
          <a:p>
            <a:pPr marL="514350" indent="-514350">
              <a:buFont typeface="+mj-lt"/>
              <a:buAutoNum type="arabicPeriod"/>
            </a:pPr>
            <a:r>
              <a:rPr lang="en-US" sz="3200" b="1" dirty="0"/>
              <a:t>we need to transform them into coordinates that </a:t>
            </a:r>
            <a:r>
              <a:rPr lang="en-US" sz="3200" b="1" dirty="0" err="1"/>
              <a:t>WebGL</a:t>
            </a:r>
            <a:r>
              <a:rPr lang="en-US" sz="3200" b="1" dirty="0"/>
              <a:t> understand</a:t>
            </a:r>
            <a:endParaRPr lang="en-CA" sz="3200" b="1" dirty="0"/>
          </a:p>
        </p:txBody>
      </p:sp>
    </p:spTree>
    <p:extLst>
      <p:ext uri="{BB962C8B-B14F-4D97-AF65-F5344CB8AC3E}">
        <p14:creationId xmlns:p14="http://schemas.microsoft.com/office/powerpoint/2010/main" val="2557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Transforming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coordinates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84204"/>
            <a:ext cx="10515600" cy="3056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4958862"/>
            <a:ext cx="1099917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Variable </a:t>
            </a:r>
            <a:r>
              <a:rPr lang="en-US" sz="3200" dirty="0" err="1"/>
              <a:t>rect</a:t>
            </a:r>
            <a:r>
              <a:rPr lang="en-US" sz="3200" dirty="0"/>
              <a:t> the position of &lt;canvas&gt; in the client area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FF0000"/>
                </a:solidFill>
              </a:rPr>
              <a:t>rect.left</a:t>
            </a:r>
            <a:r>
              <a:rPr lang="en-US" sz="3200" dirty="0"/>
              <a:t> and </a:t>
            </a:r>
            <a:r>
              <a:rPr lang="en-US" sz="3200" dirty="0" err="1">
                <a:solidFill>
                  <a:srgbClr val="FF0000"/>
                </a:solidFill>
              </a:rPr>
              <a:t>rect.top</a:t>
            </a:r>
            <a:r>
              <a:rPr lang="en-US" sz="3200" dirty="0"/>
              <a:t> indicate the position of the origin of the canvas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01318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Storing the point in the array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918" y="1724700"/>
            <a:ext cx="7168501" cy="1136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54" y="2466701"/>
            <a:ext cx="11315700" cy="264162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t="-13406" b="25151"/>
          <a:stretch/>
        </p:blipFill>
        <p:spPr>
          <a:xfrm>
            <a:off x="2505986" y="5108330"/>
            <a:ext cx="7429322" cy="1389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760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Uniform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Variables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sz="3200" dirty="0"/>
              <a:t>Attribute variable is only available in a Vertex Shader</a:t>
            </a:r>
          </a:p>
          <a:p>
            <a:r>
              <a:rPr lang="en-US" sz="3200" dirty="0"/>
              <a:t> Uniform variable are used for Fragment Shader</a:t>
            </a:r>
            <a:endParaRPr lang="en-CA" sz="3200" dirty="0"/>
          </a:p>
        </p:txBody>
      </p:sp>
    </p:spTree>
    <p:extLst>
      <p:ext uri="{BB962C8B-B14F-4D97-AF65-F5344CB8AC3E}">
        <p14:creationId xmlns:p14="http://schemas.microsoft.com/office/powerpoint/2010/main" val="2295044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46" y="321672"/>
            <a:ext cx="11473962" cy="581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409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Uniform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Variable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167" b="5182"/>
          <a:stretch/>
        </p:blipFill>
        <p:spPr>
          <a:xfrm>
            <a:off x="923656" y="2180492"/>
            <a:ext cx="8651167" cy="393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889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Retrieving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Storage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Location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503484"/>
            <a:ext cx="11957538" cy="535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736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Retrieving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the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Storage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Location</a:t>
            </a:r>
            <a:endParaRPr lang="en-CA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77" y="2058174"/>
            <a:ext cx="10541977" cy="426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856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Assigning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Values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to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Uniform</a:t>
            </a:r>
            <a:r>
              <a:rPr lang="en-US" dirty="0"/>
              <a:t> </a:t>
            </a:r>
            <a:r>
              <a:rPr lang="en-US" b="1" dirty="0">
                <a:solidFill>
                  <a:srgbClr val="C00000"/>
                </a:solidFill>
              </a:rPr>
              <a:t>Variable</a:t>
            </a:r>
            <a:endParaRPr lang="en-CA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6918"/>
            <a:ext cx="12071838" cy="543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9130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3123</TotalTime>
  <Words>460</Words>
  <Application>Microsoft Office PowerPoint</Application>
  <PresentationFormat>Widescreen</PresentationFormat>
  <Paragraphs>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Wisp</vt:lpstr>
      <vt:lpstr>Introduction to Graphics Lecture 4</vt:lpstr>
      <vt:lpstr>Outline</vt:lpstr>
      <vt:lpstr>Register Event Handler</vt:lpstr>
      <vt:lpstr>Anonymous Function</vt:lpstr>
      <vt:lpstr>Why Anonymous Function?</vt:lpstr>
      <vt:lpstr>Handling Mouse Click Event</vt:lpstr>
      <vt:lpstr>Handling Mouse Click Event</vt:lpstr>
      <vt:lpstr>Remember! </vt:lpstr>
      <vt:lpstr>Handling Mouse Click Event</vt:lpstr>
      <vt:lpstr>Handling Mouse Click Event</vt:lpstr>
      <vt:lpstr>Transforming the coordinates</vt:lpstr>
      <vt:lpstr>Storing the point in the array</vt:lpstr>
      <vt:lpstr>Uniform Variables</vt:lpstr>
      <vt:lpstr>PowerPoint Presentation</vt:lpstr>
      <vt:lpstr>Uniform Variable</vt:lpstr>
      <vt:lpstr>Retrieving the Storage Location</vt:lpstr>
      <vt:lpstr>Retrieving the Storage Location</vt:lpstr>
      <vt:lpstr>Assigning Values to Uniform Variable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Graphics Lecture 2</dc:title>
  <dc:creator>Ubaid Abbasi</dc:creator>
  <cp:lastModifiedBy>Abbasi, Ubaid</cp:lastModifiedBy>
  <cp:revision>38</cp:revision>
  <dcterms:created xsi:type="dcterms:W3CDTF">2018-09-09T22:49:56Z</dcterms:created>
  <dcterms:modified xsi:type="dcterms:W3CDTF">2025-09-16T17:28:10Z</dcterms:modified>
</cp:coreProperties>
</file>