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8" r:id="rId10"/>
    <p:sldId id="349" r:id="rId11"/>
    <p:sldId id="350" r:id="rId12"/>
    <p:sldId id="351" r:id="rId13"/>
    <p:sldId id="352" r:id="rId14"/>
    <p:sldId id="35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19CD92-79DC-4C2B-A322-126E6D87E4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0689A0-070D-4B06-BC01-081868B64913}">
      <dgm:prSet/>
      <dgm:spPr/>
      <dgm:t>
        <a:bodyPr/>
        <a:lstStyle/>
        <a:p>
          <a:r>
            <a:rPr lang="en-US"/>
            <a:t>More than one texel can cover a pixel (</a:t>
          </a:r>
          <a:r>
            <a:rPr lang="en-US" i="1"/>
            <a:t>minification</a:t>
          </a:r>
          <a:r>
            <a:rPr lang="en-US"/>
            <a:t>) or</a:t>
          </a:r>
        </a:p>
      </dgm:t>
    </dgm:pt>
    <dgm:pt modelId="{34DCB3D6-23A1-4F28-9133-EB1E1F7F4222}" type="parTrans" cxnId="{E0D679BF-F854-47A3-8CE2-B3EB558F68E0}">
      <dgm:prSet/>
      <dgm:spPr/>
      <dgm:t>
        <a:bodyPr/>
        <a:lstStyle/>
        <a:p>
          <a:endParaRPr lang="en-US"/>
        </a:p>
      </dgm:t>
    </dgm:pt>
    <dgm:pt modelId="{551867B6-828D-4D38-95B3-D16C4539532D}" type="sibTrans" cxnId="{E0D679BF-F854-47A3-8CE2-B3EB558F68E0}">
      <dgm:prSet/>
      <dgm:spPr/>
      <dgm:t>
        <a:bodyPr/>
        <a:lstStyle/>
        <a:p>
          <a:endParaRPr lang="en-US"/>
        </a:p>
      </dgm:t>
    </dgm:pt>
    <dgm:pt modelId="{AEDB90E4-36D0-4BB2-8AB1-7DCE83EACB9A}">
      <dgm:prSet/>
      <dgm:spPr/>
      <dgm:t>
        <a:bodyPr/>
        <a:lstStyle/>
        <a:p>
          <a:r>
            <a:rPr lang="en-US"/>
            <a:t>more than one pixel can cover a texel (</a:t>
          </a:r>
          <a:r>
            <a:rPr lang="en-US" i="1"/>
            <a:t>magnification</a:t>
          </a:r>
          <a:r>
            <a:rPr lang="en-US"/>
            <a:t>)</a:t>
          </a:r>
        </a:p>
      </dgm:t>
    </dgm:pt>
    <dgm:pt modelId="{73D307DB-AF89-45C8-ACA5-985E1C819AAB}" type="parTrans" cxnId="{42E11757-7B0C-47FE-98EC-7D1C0CD2468F}">
      <dgm:prSet/>
      <dgm:spPr/>
      <dgm:t>
        <a:bodyPr/>
        <a:lstStyle/>
        <a:p>
          <a:endParaRPr lang="en-US"/>
        </a:p>
      </dgm:t>
    </dgm:pt>
    <dgm:pt modelId="{B189A558-6B93-485F-9CEA-E2094F743AFA}" type="sibTrans" cxnId="{42E11757-7B0C-47FE-98EC-7D1C0CD2468F}">
      <dgm:prSet/>
      <dgm:spPr/>
      <dgm:t>
        <a:bodyPr/>
        <a:lstStyle/>
        <a:p>
          <a:endParaRPr lang="en-US"/>
        </a:p>
      </dgm:t>
    </dgm:pt>
    <dgm:pt modelId="{E019E2D2-FCA7-4258-96F9-F49C5C7F225D}">
      <dgm:prSet/>
      <dgm:spPr/>
      <dgm:t>
        <a:bodyPr/>
        <a:lstStyle/>
        <a:p>
          <a:r>
            <a:rPr lang="en-US"/>
            <a:t>Can use point sampling (nearest texel) or linear filtering</a:t>
          </a:r>
        </a:p>
      </dgm:t>
    </dgm:pt>
    <dgm:pt modelId="{011AFECE-713D-4460-9F25-09AEEE8AFD16}" type="parTrans" cxnId="{863A413A-D162-464A-A6FF-78C22D3A9D1D}">
      <dgm:prSet/>
      <dgm:spPr/>
      <dgm:t>
        <a:bodyPr/>
        <a:lstStyle/>
        <a:p>
          <a:endParaRPr lang="en-US"/>
        </a:p>
      </dgm:t>
    </dgm:pt>
    <dgm:pt modelId="{38C69952-6B44-43AE-B8C1-379862D237F1}" type="sibTrans" cxnId="{863A413A-D162-464A-A6FF-78C22D3A9D1D}">
      <dgm:prSet/>
      <dgm:spPr/>
      <dgm:t>
        <a:bodyPr/>
        <a:lstStyle/>
        <a:p>
          <a:endParaRPr lang="en-US"/>
        </a:p>
      </dgm:t>
    </dgm:pt>
    <dgm:pt modelId="{0FB5D2E9-E756-41CA-B5EB-86FCC2C06B42}">
      <dgm:prSet/>
      <dgm:spPr/>
      <dgm:t>
        <a:bodyPr/>
        <a:lstStyle/>
        <a:p>
          <a:r>
            <a:rPr lang="en-US"/>
            <a:t>( 2 x 2 filter) to obtain texture values</a:t>
          </a:r>
        </a:p>
      </dgm:t>
    </dgm:pt>
    <dgm:pt modelId="{406F49F9-AABF-4BB9-84DF-AF1ED9021D59}" type="parTrans" cxnId="{6FF26CF5-E221-4E27-8C05-7071249D6442}">
      <dgm:prSet/>
      <dgm:spPr/>
      <dgm:t>
        <a:bodyPr/>
        <a:lstStyle/>
        <a:p>
          <a:endParaRPr lang="en-US"/>
        </a:p>
      </dgm:t>
    </dgm:pt>
    <dgm:pt modelId="{6F9EEF76-B178-42FC-B3C5-68ED8E408902}" type="sibTrans" cxnId="{6FF26CF5-E221-4E27-8C05-7071249D6442}">
      <dgm:prSet/>
      <dgm:spPr/>
      <dgm:t>
        <a:bodyPr/>
        <a:lstStyle/>
        <a:p>
          <a:endParaRPr lang="en-US"/>
        </a:p>
      </dgm:t>
    </dgm:pt>
    <dgm:pt modelId="{9313A60D-5B08-46A8-9340-9891C8B3BBE2}" type="pres">
      <dgm:prSet presAssocID="{1A19CD92-79DC-4C2B-A322-126E6D87E4DB}" presName="linear" presStyleCnt="0">
        <dgm:presLayoutVars>
          <dgm:animLvl val="lvl"/>
          <dgm:resizeHandles val="exact"/>
        </dgm:presLayoutVars>
      </dgm:prSet>
      <dgm:spPr/>
    </dgm:pt>
    <dgm:pt modelId="{F8402815-CD8F-4573-9338-1A8913C988A6}" type="pres">
      <dgm:prSet presAssocID="{B40689A0-070D-4B06-BC01-081868B649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BD012E-939F-4F40-8FE3-A14A0A5E45C7}" type="pres">
      <dgm:prSet presAssocID="{551867B6-828D-4D38-95B3-D16C4539532D}" presName="spacer" presStyleCnt="0"/>
      <dgm:spPr/>
    </dgm:pt>
    <dgm:pt modelId="{0C772497-98BF-4F89-A833-88DC60C2218E}" type="pres">
      <dgm:prSet presAssocID="{AEDB90E4-36D0-4BB2-8AB1-7DCE83EACB9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41E411-ED27-4F51-A17B-F4100110D10C}" type="pres">
      <dgm:prSet presAssocID="{B189A558-6B93-485F-9CEA-E2094F743AFA}" presName="spacer" presStyleCnt="0"/>
      <dgm:spPr/>
    </dgm:pt>
    <dgm:pt modelId="{24CA4DA9-0ECA-497C-A6F0-B8A09ADB98A9}" type="pres">
      <dgm:prSet presAssocID="{E019E2D2-FCA7-4258-96F9-F49C5C7F22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040014-E5F8-4E56-9919-24558C087089}" type="pres">
      <dgm:prSet presAssocID="{38C69952-6B44-43AE-B8C1-379862D237F1}" presName="spacer" presStyleCnt="0"/>
      <dgm:spPr/>
    </dgm:pt>
    <dgm:pt modelId="{5B15C9D2-666B-43AF-8D64-9157F41DA9C3}" type="pres">
      <dgm:prSet presAssocID="{0FB5D2E9-E756-41CA-B5EB-86FCC2C06B4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8EE335-488B-41B1-8B69-E056ED20ACC6}" type="presOf" srcId="{0FB5D2E9-E756-41CA-B5EB-86FCC2C06B42}" destId="{5B15C9D2-666B-43AF-8D64-9157F41DA9C3}" srcOrd="0" destOrd="0" presId="urn:microsoft.com/office/officeart/2005/8/layout/vList2"/>
    <dgm:cxn modelId="{863A413A-D162-464A-A6FF-78C22D3A9D1D}" srcId="{1A19CD92-79DC-4C2B-A322-126E6D87E4DB}" destId="{E019E2D2-FCA7-4258-96F9-F49C5C7F225D}" srcOrd="2" destOrd="0" parTransId="{011AFECE-713D-4460-9F25-09AEEE8AFD16}" sibTransId="{38C69952-6B44-43AE-B8C1-379862D237F1}"/>
    <dgm:cxn modelId="{8FD55C63-6D58-4D27-9A1F-32DC1D0D6E61}" type="presOf" srcId="{E019E2D2-FCA7-4258-96F9-F49C5C7F225D}" destId="{24CA4DA9-0ECA-497C-A6F0-B8A09ADB98A9}" srcOrd="0" destOrd="0" presId="urn:microsoft.com/office/officeart/2005/8/layout/vList2"/>
    <dgm:cxn modelId="{189DED65-A48E-4DB4-B69D-BDAD996081BE}" type="presOf" srcId="{B40689A0-070D-4B06-BC01-081868B64913}" destId="{F8402815-CD8F-4573-9338-1A8913C988A6}" srcOrd="0" destOrd="0" presId="urn:microsoft.com/office/officeart/2005/8/layout/vList2"/>
    <dgm:cxn modelId="{42E11757-7B0C-47FE-98EC-7D1C0CD2468F}" srcId="{1A19CD92-79DC-4C2B-A322-126E6D87E4DB}" destId="{AEDB90E4-36D0-4BB2-8AB1-7DCE83EACB9A}" srcOrd="1" destOrd="0" parTransId="{73D307DB-AF89-45C8-ACA5-985E1C819AAB}" sibTransId="{B189A558-6B93-485F-9CEA-E2094F743AFA}"/>
    <dgm:cxn modelId="{FCBE0A9E-8973-4486-83E8-F3A277341303}" type="presOf" srcId="{1A19CD92-79DC-4C2B-A322-126E6D87E4DB}" destId="{9313A60D-5B08-46A8-9340-9891C8B3BBE2}" srcOrd="0" destOrd="0" presId="urn:microsoft.com/office/officeart/2005/8/layout/vList2"/>
    <dgm:cxn modelId="{E0D679BF-F854-47A3-8CE2-B3EB558F68E0}" srcId="{1A19CD92-79DC-4C2B-A322-126E6D87E4DB}" destId="{B40689A0-070D-4B06-BC01-081868B64913}" srcOrd="0" destOrd="0" parTransId="{34DCB3D6-23A1-4F28-9133-EB1E1F7F4222}" sibTransId="{551867B6-828D-4D38-95B3-D16C4539532D}"/>
    <dgm:cxn modelId="{C4FE14D0-B862-4FF4-A6A4-001FA2F8F570}" type="presOf" srcId="{AEDB90E4-36D0-4BB2-8AB1-7DCE83EACB9A}" destId="{0C772497-98BF-4F89-A833-88DC60C2218E}" srcOrd="0" destOrd="0" presId="urn:microsoft.com/office/officeart/2005/8/layout/vList2"/>
    <dgm:cxn modelId="{6FF26CF5-E221-4E27-8C05-7071249D6442}" srcId="{1A19CD92-79DC-4C2B-A322-126E6D87E4DB}" destId="{0FB5D2E9-E756-41CA-B5EB-86FCC2C06B42}" srcOrd="3" destOrd="0" parTransId="{406F49F9-AABF-4BB9-84DF-AF1ED9021D59}" sibTransId="{6F9EEF76-B178-42FC-B3C5-68ED8E408902}"/>
    <dgm:cxn modelId="{F73FC7EC-7993-4690-8385-F99BB519E9CE}" type="presParOf" srcId="{9313A60D-5B08-46A8-9340-9891C8B3BBE2}" destId="{F8402815-CD8F-4573-9338-1A8913C988A6}" srcOrd="0" destOrd="0" presId="urn:microsoft.com/office/officeart/2005/8/layout/vList2"/>
    <dgm:cxn modelId="{E8E06A6F-AD2E-40F7-BA08-6B05C1085B72}" type="presParOf" srcId="{9313A60D-5B08-46A8-9340-9891C8B3BBE2}" destId="{0DBD012E-939F-4F40-8FE3-A14A0A5E45C7}" srcOrd="1" destOrd="0" presId="urn:microsoft.com/office/officeart/2005/8/layout/vList2"/>
    <dgm:cxn modelId="{4A55B427-5DFE-4DCB-9F0E-E6D255EAC5FE}" type="presParOf" srcId="{9313A60D-5B08-46A8-9340-9891C8B3BBE2}" destId="{0C772497-98BF-4F89-A833-88DC60C2218E}" srcOrd="2" destOrd="0" presId="urn:microsoft.com/office/officeart/2005/8/layout/vList2"/>
    <dgm:cxn modelId="{6B6AEF15-E931-494C-AB5D-E007F9D72646}" type="presParOf" srcId="{9313A60D-5B08-46A8-9340-9891C8B3BBE2}" destId="{F141E411-ED27-4F51-A17B-F4100110D10C}" srcOrd="3" destOrd="0" presId="urn:microsoft.com/office/officeart/2005/8/layout/vList2"/>
    <dgm:cxn modelId="{9CDF13E9-2933-4685-9E35-95D90AE0B399}" type="presParOf" srcId="{9313A60D-5B08-46A8-9340-9891C8B3BBE2}" destId="{24CA4DA9-0ECA-497C-A6F0-B8A09ADB98A9}" srcOrd="4" destOrd="0" presId="urn:microsoft.com/office/officeart/2005/8/layout/vList2"/>
    <dgm:cxn modelId="{0F6A2B6A-88B0-46FC-AE93-7897D107A72D}" type="presParOf" srcId="{9313A60D-5B08-46A8-9340-9891C8B3BBE2}" destId="{07040014-E5F8-4E56-9919-24558C087089}" srcOrd="5" destOrd="0" presId="urn:microsoft.com/office/officeart/2005/8/layout/vList2"/>
    <dgm:cxn modelId="{3F30821D-3F20-4C3D-8ED5-80E9187907FB}" type="presParOf" srcId="{9313A60D-5B08-46A8-9340-9891C8B3BBE2}" destId="{5B15C9D2-666B-43AF-8D64-9157F41DA9C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02815-CD8F-4573-9338-1A8913C988A6}">
      <dsp:nvSpPr>
        <dsp:cNvPr id="0" name=""/>
        <dsp:cNvSpPr/>
      </dsp:nvSpPr>
      <dsp:spPr>
        <a:xfrm>
          <a:off x="0" y="3781"/>
          <a:ext cx="773641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More than one texel can cover a pixel (</a:t>
          </a:r>
          <a:r>
            <a:rPr lang="en-US" sz="2200" i="1" kern="1200"/>
            <a:t>minification</a:t>
          </a:r>
          <a:r>
            <a:rPr lang="en-US" sz="2200" kern="1200"/>
            <a:t>) or</a:t>
          </a:r>
        </a:p>
      </dsp:txBody>
      <dsp:txXfrm>
        <a:off x="25759" y="29540"/>
        <a:ext cx="7684895" cy="476152"/>
      </dsp:txXfrm>
    </dsp:sp>
    <dsp:sp modelId="{0C772497-98BF-4F89-A833-88DC60C2218E}">
      <dsp:nvSpPr>
        <dsp:cNvPr id="0" name=""/>
        <dsp:cNvSpPr/>
      </dsp:nvSpPr>
      <dsp:spPr>
        <a:xfrm>
          <a:off x="0" y="594811"/>
          <a:ext cx="773641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more than one pixel can cover a texel (</a:t>
          </a:r>
          <a:r>
            <a:rPr lang="en-US" sz="2200" i="1" kern="1200"/>
            <a:t>magnification</a:t>
          </a:r>
          <a:r>
            <a:rPr lang="en-US" sz="2200" kern="1200"/>
            <a:t>)</a:t>
          </a:r>
        </a:p>
      </dsp:txBody>
      <dsp:txXfrm>
        <a:off x="25759" y="620570"/>
        <a:ext cx="7684895" cy="476152"/>
      </dsp:txXfrm>
    </dsp:sp>
    <dsp:sp modelId="{24CA4DA9-0ECA-497C-A6F0-B8A09ADB98A9}">
      <dsp:nvSpPr>
        <dsp:cNvPr id="0" name=""/>
        <dsp:cNvSpPr/>
      </dsp:nvSpPr>
      <dsp:spPr>
        <a:xfrm>
          <a:off x="0" y="1185842"/>
          <a:ext cx="773641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Can use point sampling (nearest texel) or linear filtering</a:t>
          </a:r>
        </a:p>
      </dsp:txBody>
      <dsp:txXfrm>
        <a:off x="25759" y="1211601"/>
        <a:ext cx="7684895" cy="476152"/>
      </dsp:txXfrm>
    </dsp:sp>
    <dsp:sp modelId="{5B15C9D2-666B-43AF-8D64-9157F41DA9C3}">
      <dsp:nvSpPr>
        <dsp:cNvPr id="0" name=""/>
        <dsp:cNvSpPr/>
      </dsp:nvSpPr>
      <dsp:spPr>
        <a:xfrm>
          <a:off x="0" y="1776872"/>
          <a:ext cx="773641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( 2 x 2 filter) to obtain texture values</a:t>
          </a:r>
        </a:p>
      </dsp:txBody>
      <dsp:txXfrm>
        <a:off x="25759" y="1802631"/>
        <a:ext cx="7684895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83FEE-5A99-4D3B-ACD3-B7B21500B3E0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B123F-BCA8-4485-B11A-A5E0CA93C3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902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A46964F-6BE0-4EAB-8636-5E3B35149047}" type="slidenum">
              <a:rPr lang="en-US" altLang="it-IT" sz="1200"/>
              <a:pPr/>
              <a:t>1</a:t>
            </a:fld>
            <a:endParaRPr lang="en-US" altLang="it-IT" sz="1200"/>
          </a:p>
        </p:txBody>
      </p:sp>
      <p:sp>
        <p:nvSpPr>
          <p:cNvPr id="204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4175" y="684213"/>
            <a:ext cx="6091238" cy="3427412"/>
          </a:xfrm>
          <a:ln w="12700" cap="flat">
            <a:solidFill>
              <a:schemeClr val="tx1"/>
            </a:solidFill>
          </a:ln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56" tIns="46729" rIns="93456" bIns="46729"/>
          <a:lstStyle/>
          <a:p>
            <a:pPr eaLnBrk="1" hangingPunct="1"/>
            <a:endParaRPr lang="it-IT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959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88CE6FF-766D-47DE-B934-E72077247E55}" type="slidenum">
              <a:rPr lang="en-US" altLang="it-IT" sz="1200"/>
              <a:pPr/>
              <a:t>3</a:t>
            </a:fld>
            <a:endParaRPr lang="en-US" altLang="it-IT" sz="1200"/>
          </a:p>
        </p:txBody>
      </p:sp>
      <p:sp>
        <p:nvSpPr>
          <p:cNvPr id="235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4213"/>
            <a:ext cx="6096000" cy="3429000"/>
          </a:xfrm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4988"/>
            <a:ext cx="5032375" cy="4114800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877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30190D1-A3D3-497C-B3A6-2203ABEE897F}" type="slidenum">
              <a:rPr lang="en-US" altLang="it-IT" sz="1200"/>
              <a:pPr/>
              <a:t>4</a:t>
            </a:fld>
            <a:endParaRPr lang="en-US" altLang="it-IT" sz="1200"/>
          </a:p>
        </p:txBody>
      </p:sp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4213"/>
            <a:ext cx="6096000" cy="3429000"/>
          </a:xfrm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4988"/>
            <a:ext cx="5032375" cy="4114800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6885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7E8261-64C3-4E9E-A1F5-AD1EF6FB73D0}" type="slidenum">
              <a:rPr lang="en-US" altLang="it-IT" sz="1200"/>
              <a:pPr/>
              <a:t>6</a:t>
            </a:fld>
            <a:endParaRPr lang="en-US" altLang="it-IT" sz="1200"/>
          </a:p>
        </p:txBody>
      </p:sp>
      <p:sp>
        <p:nvSpPr>
          <p:cNvPr id="286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4213"/>
            <a:ext cx="6096000" cy="3429000"/>
          </a:xfrm>
          <a:solidFill>
            <a:srgbClr val="FFFFFF"/>
          </a:solidFill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4988"/>
            <a:ext cx="5032375" cy="4114800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6201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DD0C89C-FF26-4A7B-8E53-DDD831D8862F}" type="slidenum">
              <a:rPr lang="en-US" altLang="it-IT" sz="1200"/>
              <a:pPr/>
              <a:t>8</a:t>
            </a:fld>
            <a:endParaRPr lang="en-US" altLang="it-IT" sz="1200"/>
          </a:p>
        </p:txBody>
      </p:sp>
      <p:sp>
        <p:nvSpPr>
          <p:cNvPr id="317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4213"/>
            <a:ext cx="6096000" cy="3429000"/>
          </a:xfrm>
          <a:solidFill>
            <a:srgbClr val="FFFFFF"/>
          </a:solidFill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4988"/>
            <a:ext cx="5032375" cy="4114800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948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238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384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244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249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27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38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78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879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304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66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3650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929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883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4844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7625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735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7503A-ACEE-4C8F-A584-7973F892ADCF}" type="datetimeFigureOut">
              <a:rPr lang="en-CA" smtClean="0"/>
              <a:t>2025-10-23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AC89933-6564-4E51-8EF1-C4DB6329DD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15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Using Texture Objects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lIns="90488" tIns="44450" rIns="90488" bIns="44450" rtlCol="0">
            <a:normAutofit fontScale="85000" lnSpcReduction="20000"/>
          </a:bodyPr>
          <a:lstStyle/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specify textures in texture objects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set texture filter 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set texture function 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set texture wrap mode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set optional perspective correction hint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bind texture object 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enable texturing</a:t>
            </a:r>
          </a:p>
          <a:p>
            <a:pPr marL="590550" indent="-590550">
              <a:buFontTx/>
              <a:buAutoNum type="arabicPeriod"/>
            </a:pPr>
            <a:r>
              <a:rPr lang="en-US" altLang="it-IT" sz="2700" dirty="0">
                <a:ea typeface="ＭＳ Ｐゴシック" panose="020B0600070205080204" pitchFamily="34" charset="-128"/>
              </a:rPr>
              <a:t>supply texture coordinates for vertex</a:t>
            </a:r>
          </a:p>
          <a:p>
            <a:pPr marL="876300" lvl="1" indent="-495300"/>
            <a:r>
              <a:rPr lang="en-US" altLang="it-IT" sz="2200" dirty="0">
                <a:ea typeface="ＭＳ Ｐゴシック" panose="020B0600070205080204" pitchFamily="34" charset="-128"/>
              </a:rPr>
              <a:t>coordinates can also be generated</a:t>
            </a:r>
          </a:p>
          <a:p>
            <a:pPr marL="0" indent="0">
              <a:buNone/>
            </a:pPr>
            <a:endParaRPr lang="en-US" altLang="it-IT" dirty="0">
              <a:ea typeface="ＭＳ Ｐゴシック" panose="020B0600070205080204" pitchFamily="34" charset="-128"/>
            </a:endParaRPr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093C3819-5971-4FE6-9F40-FED4998252C4}" type="slidenum">
              <a:rPr lang="es-ES" altLang="it-IT" sz="1000">
                <a:latin typeface="Arial" panose="020B0604020202020204" pitchFamily="34" charset="0"/>
              </a:rPr>
              <a:pPr lvl="1"/>
              <a:t>1</a:t>
            </a:fld>
            <a:endParaRPr lang="es-ES" altLang="it-IT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445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Texture Parameters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WebGL has a variety of parameters that determine how texture is applied</a:t>
            </a: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Wrapping parameters determine what happens if s and t are outside the (0,1) range</a:t>
            </a: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Filter modes allow us to use area averaging instead of point samples</a:t>
            </a: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Mipmapping allows us to use textures at multiple resolutions</a:t>
            </a: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Environment parameters determine how texture mapping interacts with shading</a:t>
            </a:r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08DBBA92-62EF-40D7-AD3D-60F40C4FB1CA}" type="slidenum">
              <a:rPr lang="es-ES" altLang="it-IT" sz="1000">
                <a:latin typeface="Arial" panose="020B0604020202020204" pitchFamily="34" charset="0"/>
              </a:rPr>
              <a:pPr lvl="1"/>
              <a:t>2</a:t>
            </a:fld>
            <a:endParaRPr lang="es-ES" altLang="it-IT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81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Wrapping Mode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2514601" y="1752601"/>
            <a:ext cx="7089775" cy="2347913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342900" indent="-342900"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Clamping: if </a:t>
            </a:r>
            <a:r>
              <a:rPr lang="en-US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s,t &gt; 1</a:t>
            </a:r>
            <a:r>
              <a:rPr lang="en-US" altLang="it-IT">
                <a:ea typeface="ＭＳ Ｐゴシック" panose="020B0600070205080204" pitchFamily="34" charset="-128"/>
              </a:rPr>
              <a:t> use 1, if </a:t>
            </a:r>
            <a:r>
              <a:rPr lang="en-US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s,t &lt;0</a:t>
            </a:r>
            <a:r>
              <a:rPr lang="en-US" altLang="it-IT">
                <a:ea typeface="ＭＳ Ｐゴシック" panose="020B0600070205080204" pitchFamily="34" charset="-128"/>
              </a:rPr>
              <a:t> use 0</a:t>
            </a:r>
          </a:p>
          <a:p>
            <a:pPr marL="342900" indent="-342900"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Wrapping: use </a:t>
            </a:r>
            <a:r>
              <a:rPr lang="en-US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s,t</a:t>
            </a:r>
            <a:r>
              <a:rPr lang="en-US" altLang="it-IT">
                <a:ea typeface="ＭＳ Ｐゴシック" panose="020B0600070205080204" pitchFamily="34" charset="-128"/>
              </a:rPr>
              <a:t> modulo 1</a:t>
            </a:r>
          </a:p>
          <a:p>
            <a:pPr marL="742950" lvl="1" indent="-285750">
              <a:buNone/>
            </a:pPr>
            <a:r>
              <a:rPr lang="en-US" altLang="it-IT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gl.texParameteri(gl.TEXTURE_2D, </a:t>
            </a:r>
            <a:br>
              <a:rPr lang="en-US" altLang="it-IT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it-IT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   gl.TEXTURE_WRAP_S, gl.CLAMP )</a:t>
            </a:r>
            <a:endParaRPr lang="en-US" altLang="it-IT" sz="2000" b="1" i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742950" lvl="1" indent="-285750">
              <a:buNone/>
            </a:pPr>
            <a:r>
              <a:rPr lang="en-US" altLang="it-IT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gl.texParameteri( gl.TEXTURE_2D, </a:t>
            </a:r>
            <a:br>
              <a:rPr lang="en-US" altLang="it-IT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it-IT" sz="20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   gl.TEXTURE_WRAP_T, gl.REPEAT )</a:t>
            </a:r>
            <a:endParaRPr lang="en-US" altLang="it-IT" sz="2000" b="1" i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342900" indent="-342900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225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D20DB92F-F005-4888-9CD9-F5F528D9B0B4}" type="slidenum">
              <a:rPr lang="es-ES" altLang="it-IT" sz="1000">
                <a:latin typeface="Arial" panose="020B0604020202020204" pitchFamily="34" charset="0"/>
              </a:rPr>
              <a:pPr lvl="1"/>
              <a:t>3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grpSp>
        <p:nvGrpSpPr>
          <p:cNvPr id="22533" name="Group 4"/>
          <p:cNvGrpSpPr>
            <a:grpSpLocks/>
          </p:cNvGrpSpPr>
          <p:nvPr/>
        </p:nvGrpSpPr>
        <p:grpSpPr bwMode="auto">
          <a:xfrm>
            <a:off x="3140075" y="4313239"/>
            <a:ext cx="5018088" cy="1995487"/>
            <a:chOff x="1018" y="2717"/>
            <a:chExt cx="3161" cy="1257"/>
          </a:xfrm>
        </p:grpSpPr>
        <p:grpSp>
          <p:nvGrpSpPr>
            <p:cNvPr id="22535" name="Group 5"/>
            <p:cNvGrpSpPr>
              <a:grpSpLocks/>
            </p:cNvGrpSpPr>
            <p:nvPr/>
          </p:nvGrpSpPr>
          <p:grpSpPr bwMode="auto">
            <a:xfrm>
              <a:off x="1018" y="2717"/>
              <a:ext cx="864" cy="1207"/>
              <a:chOff x="771" y="2611"/>
              <a:chExt cx="864" cy="1207"/>
            </a:xfrm>
          </p:grpSpPr>
          <p:sp>
            <p:nvSpPr>
              <p:cNvPr id="22542" name="Rectangle 6"/>
              <p:cNvSpPr>
                <a:spLocks noChangeArrowheads="1"/>
              </p:cNvSpPr>
              <p:nvPr/>
            </p:nvSpPr>
            <p:spPr bwMode="auto">
              <a:xfrm>
                <a:off x="872" y="3566"/>
                <a:ext cx="56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it-IT" sz="2000"/>
                  <a:t>texture</a:t>
                </a:r>
              </a:p>
            </p:txBody>
          </p:sp>
          <p:sp>
            <p:nvSpPr>
              <p:cNvPr id="22543" name="Line 7"/>
              <p:cNvSpPr>
                <a:spLocks noChangeShapeType="1"/>
              </p:cNvSpPr>
              <p:nvPr/>
            </p:nvSpPr>
            <p:spPr bwMode="auto">
              <a:xfrm>
                <a:off x="925" y="3379"/>
                <a:ext cx="4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2544" name="Line 8"/>
              <p:cNvSpPr>
                <a:spLocks noChangeShapeType="1"/>
              </p:cNvSpPr>
              <p:nvPr/>
            </p:nvSpPr>
            <p:spPr bwMode="auto">
              <a:xfrm flipV="1">
                <a:off x="851" y="2899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2545" name="Rectangle 9"/>
              <p:cNvSpPr>
                <a:spLocks noChangeArrowheads="1"/>
              </p:cNvSpPr>
              <p:nvPr/>
            </p:nvSpPr>
            <p:spPr bwMode="auto">
              <a:xfrm>
                <a:off x="1443" y="3254"/>
                <a:ext cx="18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it-IT" sz="2000"/>
                  <a:t>s</a:t>
                </a:r>
              </a:p>
            </p:txBody>
          </p:sp>
          <p:sp>
            <p:nvSpPr>
              <p:cNvPr id="22546" name="Rectangle 10"/>
              <p:cNvSpPr>
                <a:spLocks noChangeArrowheads="1"/>
              </p:cNvSpPr>
              <p:nvPr/>
            </p:nvSpPr>
            <p:spPr bwMode="auto">
              <a:xfrm>
                <a:off x="771" y="2630"/>
                <a:ext cx="16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it-IT" sz="2000"/>
                  <a:t>t</a:t>
                </a:r>
              </a:p>
            </p:txBody>
          </p:sp>
          <p:pic>
            <p:nvPicPr>
              <p:cNvPr id="22547" name="Picture 11" descr="C:\SIGGRAPH\tex1x1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428" t="21428" r="21429" b="21429"/>
              <a:stretch>
                <a:fillRect/>
              </a:stretch>
            </p:blipFill>
            <p:spPr bwMode="auto">
              <a:xfrm>
                <a:off x="915" y="2611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2536" name="Group 12"/>
            <p:cNvGrpSpPr>
              <a:grpSpLocks/>
            </p:cNvGrpSpPr>
            <p:nvPr/>
          </p:nvGrpSpPr>
          <p:grpSpPr bwMode="auto">
            <a:xfrm>
              <a:off x="3345" y="2717"/>
              <a:ext cx="834" cy="1257"/>
              <a:chOff x="3816" y="2659"/>
              <a:chExt cx="834" cy="1257"/>
            </a:xfrm>
          </p:grpSpPr>
          <p:sp>
            <p:nvSpPr>
              <p:cNvPr id="22540" name="Rectangle 13"/>
              <p:cNvSpPr>
                <a:spLocks noChangeArrowheads="1"/>
              </p:cNvSpPr>
              <p:nvPr/>
            </p:nvSpPr>
            <p:spPr bwMode="auto">
              <a:xfrm>
                <a:off x="3816" y="3470"/>
                <a:ext cx="83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it-IT" sz="2000"/>
                  <a:t>gl.CLAMP</a:t>
                </a:r>
              </a:p>
              <a:p>
                <a:pPr algn="ctr"/>
                <a:r>
                  <a:rPr lang="en-US" altLang="it-IT" sz="2000"/>
                  <a:t>wrapping</a:t>
                </a:r>
              </a:p>
            </p:txBody>
          </p:sp>
          <p:pic>
            <p:nvPicPr>
              <p:cNvPr id="22541" name="Picture 14" descr="C:\SIGGRAPH\tex2x2c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599" t="23599" r="23601" b="23601"/>
              <a:stretch>
                <a:fillRect/>
              </a:stretch>
            </p:blipFill>
            <p:spPr bwMode="auto">
              <a:xfrm>
                <a:off x="3843" y="2659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2537" name="Group 15"/>
            <p:cNvGrpSpPr>
              <a:grpSpLocks/>
            </p:cNvGrpSpPr>
            <p:nvPr/>
          </p:nvGrpSpPr>
          <p:grpSpPr bwMode="auto">
            <a:xfrm>
              <a:off x="2143" y="2717"/>
              <a:ext cx="876" cy="1257"/>
              <a:chOff x="2220" y="2659"/>
              <a:chExt cx="876" cy="1257"/>
            </a:xfrm>
          </p:grpSpPr>
          <p:sp>
            <p:nvSpPr>
              <p:cNvPr id="22538" name="Rectangle 16"/>
              <p:cNvSpPr>
                <a:spLocks noChangeArrowheads="1"/>
              </p:cNvSpPr>
              <p:nvPr/>
            </p:nvSpPr>
            <p:spPr bwMode="auto">
              <a:xfrm>
                <a:off x="2220" y="3470"/>
                <a:ext cx="876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it-IT" sz="2000"/>
                  <a:t>gl.REPEAT</a:t>
                </a:r>
              </a:p>
              <a:p>
                <a:pPr algn="ctr"/>
                <a:r>
                  <a:rPr lang="en-US" altLang="it-IT" sz="2000"/>
                  <a:t>wrapping</a:t>
                </a:r>
              </a:p>
            </p:txBody>
          </p:sp>
          <p:pic>
            <p:nvPicPr>
              <p:cNvPr id="22539" name="Picture 17" descr="C:\SIGGRAPH\tex2x2r.jp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001" t="24001" r="23199" b="23199"/>
              <a:stretch>
                <a:fillRect/>
              </a:stretch>
            </p:blipFill>
            <p:spPr bwMode="auto">
              <a:xfrm>
                <a:off x="2307" y="2659"/>
                <a:ext cx="720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9266127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228600"/>
            <a:ext cx="6553200" cy="1066800"/>
          </a:xfrm>
          <a:noFill/>
        </p:spPr>
        <p:txBody>
          <a:bodyPr vert="horz" lIns="90488" tIns="44450" rIns="90488" bIns="44450" rtlCol="0" anchor="ctr">
            <a:normAutofit fontScale="90000"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Magnification and Minification</a:t>
            </a:r>
          </a:p>
        </p:txBody>
      </p:sp>
      <p:sp>
        <p:nvSpPr>
          <p:cNvPr id="245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2E1C2239-2857-4464-96FC-A4FEF35B8140}" type="slidenum">
              <a:rPr lang="es-ES" altLang="it-IT" sz="1000">
                <a:latin typeface="Arial" panose="020B0604020202020204" pitchFamily="34" charset="0"/>
              </a:rPr>
              <a:pPr lvl="1"/>
              <a:t>4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grpSp>
        <p:nvGrpSpPr>
          <p:cNvPr id="24580" name="Group 3"/>
          <p:cNvGrpSpPr>
            <a:grpSpLocks/>
          </p:cNvGrpSpPr>
          <p:nvPr/>
        </p:nvGrpSpPr>
        <p:grpSpPr bwMode="auto">
          <a:xfrm>
            <a:off x="2209801" y="3429001"/>
            <a:ext cx="7669213" cy="2746375"/>
            <a:chOff x="468" y="2208"/>
            <a:chExt cx="4831" cy="1730"/>
          </a:xfrm>
        </p:grpSpPr>
        <p:sp>
          <p:nvSpPr>
            <p:cNvPr id="24583" name="Rectangle 4"/>
            <p:cNvSpPr>
              <a:spLocks noChangeArrowheads="1"/>
            </p:cNvSpPr>
            <p:nvPr/>
          </p:nvSpPr>
          <p:spPr bwMode="auto">
            <a:xfrm>
              <a:off x="636" y="2784"/>
              <a:ext cx="144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it-IT" altLang="it-IT"/>
            </a:p>
          </p:txBody>
        </p:sp>
        <p:grpSp>
          <p:nvGrpSpPr>
            <p:cNvPr id="24584" name="Group 5"/>
            <p:cNvGrpSpPr>
              <a:grpSpLocks/>
            </p:cNvGrpSpPr>
            <p:nvPr/>
          </p:nvGrpSpPr>
          <p:grpSpPr bwMode="auto">
            <a:xfrm>
              <a:off x="1438" y="2208"/>
              <a:ext cx="1152" cy="1152"/>
              <a:chOff x="1438" y="2208"/>
              <a:chExt cx="1152" cy="1152"/>
            </a:xfrm>
          </p:grpSpPr>
          <p:sp>
            <p:nvSpPr>
              <p:cNvPr id="24630" name="Rectangle 6"/>
              <p:cNvSpPr>
                <a:spLocks noChangeArrowheads="1"/>
              </p:cNvSpPr>
              <p:nvPr/>
            </p:nvSpPr>
            <p:spPr bwMode="auto">
              <a:xfrm>
                <a:off x="1442" y="2212"/>
                <a:ext cx="1144" cy="114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it-IT" altLang="it-IT"/>
              </a:p>
            </p:txBody>
          </p:sp>
          <p:sp>
            <p:nvSpPr>
              <p:cNvPr id="24631" name="Line 7"/>
              <p:cNvSpPr>
                <a:spLocks noChangeShapeType="1"/>
              </p:cNvSpPr>
              <p:nvPr/>
            </p:nvSpPr>
            <p:spPr bwMode="auto">
              <a:xfrm>
                <a:off x="1438" y="2640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2" name="Line 8"/>
              <p:cNvSpPr>
                <a:spLocks noChangeShapeType="1"/>
              </p:cNvSpPr>
              <p:nvPr/>
            </p:nvSpPr>
            <p:spPr bwMode="auto">
              <a:xfrm>
                <a:off x="1870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3" name="Line 9"/>
              <p:cNvSpPr>
                <a:spLocks noChangeShapeType="1"/>
              </p:cNvSpPr>
              <p:nvPr/>
            </p:nvSpPr>
            <p:spPr bwMode="auto">
              <a:xfrm>
                <a:off x="1582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4" name="Line 10"/>
              <p:cNvSpPr>
                <a:spLocks noChangeShapeType="1"/>
              </p:cNvSpPr>
              <p:nvPr/>
            </p:nvSpPr>
            <p:spPr bwMode="auto">
              <a:xfrm>
                <a:off x="1726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5" name="Line 11"/>
              <p:cNvSpPr>
                <a:spLocks noChangeShapeType="1"/>
              </p:cNvSpPr>
              <p:nvPr/>
            </p:nvSpPr>
            <p:spPr bwMode="auto">
              <a:xfrm>
                <a:off x="2014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6" name="Line 12"/>
              <p:cNvSpPr>
                <a:spLocks noChangeShapeType="1"/>
              </p:cNvSpPr>
              <p:nvPr/>
            </p:nvSpPr>
            <p:spPr bwMode="auto">
              <a:xfrm>
                <a:off x="2158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7" name="Line 13"/>
              <p:cNvSpPr>
                <a:spLocks noChangeShapeType="1"/>
              </p:cNvSpPr>
              <p:nvPr/>
            </p:nvSpPr>
            <p:spPr bwMode="auto">
              <a:xfrm>
                <a:off x="1438" y="249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8" name="Line 14"/>
              <p:cNvSpPr>
                <a:spLocks noChangeShapeType="1"/>
              </p:cNvSpPr>
              <p:nvPr/>
            </p:nvSpPr>
            <p:spPr bwMode="auto">
              <a:xfrm>
                <a:off x="1438" y="2352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39" name="Line 15"/>
              <p:cNvSpPr>
                <a:spLocks noChangeShapeType="1"/>
              </p:cNvSpPr>
              <p:nvPr/>
            </p:nvSpPr>
            <p:spPr bwMode="auto">
              <a:xfrm>
                <a:off x="1438" y="2784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40" name="Line 16"/>
              <p:cNvSpPr>
                <a:spLocks noChangeShapeType="1"/>
              </p:cNvSpPr>
              <p:nvPr/>
            </p:nvSpPr>
            <p:spPr bwMode="auto">
              <a:xfrm>
                <a:off x="1438" y="2928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41" name="Line 17"/>
              <p:cNvSpPr>
                <a:spLocks noChangeShapeType="1"/>
              </p:cNvSpPr>
              <p:nvPr/>
            </p:nvSpPr>
            <p:spPr bwMode="auto">
              <a:xfrm>
                <a:off x="2302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42" name="Line 18"/>
              <p:cNvSpPr>
                <a:spLocks noChangeShapeType="1"/>
              </p:cNvSpPr>
              <p:nvPr/>
            </p:nvSpPr>
            <p:spPr bwMode="auto">
              <a:xfrm>
                <a:off x="2446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43" name="Line 19"/>
              <p:cNvSpPr>
                <a:spLocks noChangeShapeType="1"/>
              </p:cNvSpPr>
              <p:nvPr/>
            </p:nvSpPr>
            <p:spPr bwMode="auto">
              <a:xfrm>
                <a:off x="1438" y="3072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44" name="Line 20"/>
              <p:cNvSpPr>
                <a:spLocks noChangeShapeType="1"/>
              </p:cNvSpPr>
              <p:nvPr/>
            </p:nvSpPr>
            <p:spPr bwMode="auto">
              <a:xfrm>
                <a:off x="1438" y="321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24585" name="Group 21"/>
            <p:cNvGrpSpPr>
              <a:grpSpLocks/>
            </p:cNvGrpSpPr>
            <p:nvPr/>
          </p:nvGrpSpPr>
          <p:grpSpPr bwMode="auto">
            <a:xfrm>
              <a:off x="631" y="2784"/>
              <a:ext cx="288" cy="288"/>
              <a:chOff x="631" y="2784"/>
              <a:chExt cx="288" cy="288"/>
            </a:xfrm>
          </p:grpSpPr>
          <p:sp>
            <p:nvSpPr>
              <p:cNvPr id="24624" name="Line 22"/>
              <p:cNvSpPr>
                <a:spLocks noChangeShapeType="1"/>
              </p:cNvSpPr>
              <p:nvPr/>
            </p:nvSpPr>
            <p:spPr bwMode="auto">
              <a:xfrm>
                <a:off x="775" y="278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5" name="Line 23"/>
              <p:cNvSpPr>
                <a:spLocks noChangeShapeType="1"/>
              </p:cNvSpPr>
              <p:nvPr/>
            </p:nvSpPr>
            <p:spPr bwMode="auto">
              <a:xfrm>
                <a:off x="631" y="278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6" name="Line 24"/>
              <p:cNvSpPr>
                <a:spLocks noChangeShapeType="1"/>
              </p:cNvSpPr>
              <p:nvPr/>
            </p:nvSpPr>
            <p:spPr bwMode="auto">
              <a:xfrm>
                <a:off x="919" y="278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7" name="Line 25"/>
              <p:cNvSpPr>
                <a:spLocks noChangeShapeType="1"/>
              </p:cNvSpPr>
              <p:nvPr/>
            </p:nvSpPr>
            <p:spPr bwMode="auto">
              <a:xfrm flipH="1">
                <a:off x="631" y="2784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8" name="Line 26"/>
              <p:cNvSpPr>
                <a:spLocks noChangeShapeType="1"/>
              </p:cNvSpPr>
              <p:nvPr/>
            </p:nvSpPr>
            <p:spPr bwMode="auto">
              <a:xfrm flipH="1">
                <a:off x="631" y="2928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9" name="Line 27"/>
              <p:cNvSpPr>
                <a:spLocks noChangeShapeType="1"/>
              </p:cNvSpPr>
              <p:nvPr/>
            </p:nvSpPr>
            <p:spPr bwMode="auto">
              <a:xfrm flipH="1">
                <a:off x="631" y="307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24586" name="Group 28"/>
            <p:cNvGrpSpPr>
              <a:grpSpLocks/>
            </p:cNvGrpSpPr>
            <p:nvPr/>
          </p:nvGrpSpPr>
          <p:grpSpPr bwMode="auto">
            <a:xfrm>
              <a:off x="3262" y="2208"/>
              <a:ext cx="1152" cy="1152"/>
              <a:chOff x="3262" y="2208"/>
              <a:chExt cx="1152" cy="1152"/>
            </a:xfrm>
          </p:grpSpPr>
          <p:sp>
            <p:nvSpPr>
              <p:cNvPr id="24609" name="Rectangle 29"/>
              <p:cNvSpPr>
                <a:spLocks noChangeArrowheads="1"/>
              </p:cNvSpPr>
              <p:nvPr/>
            </p:nvSpPr>
            <p:spPr bwMode="auto">
              <a:xfrm>
                <a:off x="3266" y="2212"/>
                <a:ext cx="1144" cy="114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it-IT" altLang="it-IT"/>
              </a:p>
            </p:txBody>
          </p:sp>
          <p:sp>
            <p:nvSpPr>
              <p:cNvPr id="24610" name="Line 30"/>
              <p:cNvSpPr>
                <a:spLocks noChangeShapeType="1"/>
              </p:cNvSpPr>
              <p:nvPr/>
            </p:nvSpPr>
            <p:spPr bwMode="auto">
              <a:xfrm>
                <a:off x="3262" y="2640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1" name="Line 31"/>
              <p:cNvSpPr>
                <a:spLocks noChangeShapeType="1"/>
              </p:cNvSpPr>
              <p:nvPr/>
            </p:nvSpPr>
            <p:spPr bwMode="auto">
              <a:xfrm>
                <a:off x="3694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2" name="Line 32"/>
              <p:cNvSpPr>
                <a:spLocks noChangeShapeType="1"/>
              </p:cNvSpPr>
              <p:nvPr/>
            </p:nvSpPr>
            <p:spPr bwMode="auto">
              <a:xfrm>
                <a:off x="3406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3" name="Line 33"/>
              <p:cNvSpPr>
                <a:spLocks noChangeShapeType="1"/>
              </p:cNvSpPr>
              <p:nvPr/>
            </p:nvSpPr>
            <p:spPr bwMode="auto">
              <a:xfrm>
                <a:off x="3550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4" name="Line 34"/>
              <p:cNvSpPr>
                <a:spLocks noChangeShapeType="1"/>
              </p:cNvSpPr>
              <p:nvPr/>
            </p:nvSpPr>
            <p:spPr bwMode="auto">
              <a:xfrm>
                <a:off x="3838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5" name="Line 35"/>
              <p:cNvSpPr>
                <a:spLocks noChangeShapeType="1"/>
              </p:cNvSpPr>
              <p:nvPr/>
            </p:nvSpPr>
            <p:spPr bwMode="auto">
              <a:xfrm>
                <a:off x="3982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6" name="Line 36"/>
              <p:cNvSpPr>
                <a:spLocks noChangeShapeType="1"/>
              </p:cNvSpPr>
              <p:nvPr/>
            </p:nvSpPr>
            <p:spPr bwMode="auto">
              <a:xfrm>
                <a:off x="3262" y="249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7" name="Line 37"/>
              <p:cNvSpPr>
                <a:spLocks noChangeShapeType="1"/>
              </p:cNvSpPr>
              <p:nvPr/>
            </p:nvSpPr>
            <p:spPr bwMode="auto">
              <a:xfrm>
                <a:off x="3262" y="2352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8" name="Line 38"/>
              <p:cNvSpPr>
                <a:spLocks noChangeShapeType="1"/>
              </p:cNvSpPr>
              <p:nvPr/>
            </p:nvSpPr>
            <p:spPr bwMode="auto">
              <a:xfrm>
                <a:off x="3262" y="2784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19" name="Line 39"/>
              <p:cNvSpPr>
                <a:spLocks noChangeShapeType="1"/>
              </p:cNvSpPr>
              <p:nvPr/>
            </p:nvSpPr>
            <p:spPr bwMode="auto">
              <a:xfrm>
                <a:off x="3262" y="2928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0" name="Line 40"/>
              <p:cNvSpPr>
                <a:spLocks noChangeShapeType="1"/>
              </p:cNvSpPr>
              <p:nvPr/>
            </p:nvSpPr>
            <p:spPr bwMode="auto">
              <a:xfrm>
                <a:off x="4126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1" name="Line 41"/>
              <p:cNvSpPr>
                <a:spLocks noChangeShapeType="1"/>
              </p:cNvSpPr>
              <p:nvPr/>
            </p:nvSpPr>
            <p:spPr bwMode="auto">
              <a:xfrm>
                <a:off x="4270" y="2208"/>
                <a:ext cx="0" cy="1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2" name="Line 42"/>
              <p:cNvSpPr>
                <a:spLocks noChangeShapeType="1"/>
              </p:cNvSpPr>
              <p:nvPr/>
            </p:nvSpPr>
            <p:spPr bwMode="auto">
              <a:xfrm>
                <a:off x="3262" y="3072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23" name="Line 43"/>
              <p:cNvSpPr>
                <a:spLocks noChangeShapeType="1"/>
              </p:cNvSpPr>
              <p:nvPr/>
            </p:nvSpPr>
            <p:spPr bwMode="auto">
              <a:xfrm>
                <a:off x="3262" y="3216"/>
                <a:ext cx="11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24587" name="Group 44"/>
            <p:cNvGrpSpPr>
              <a:grpSpLocks/>
            </p:cNvGrpSpPr>
            <p:nvPr/>
          </p:nvGrpSpPr>
          <p:grpSpPr bwMode="auto">
            <a:xfrm>
              <a:off x="4824" y="2640"/>
              <a:ext cx="288" cy="288"/>
              <a:chOff x="4824" y="2640"/>
              <a:chExt cx="288" cy="288"/>
            </a:xfrm>
          </p:grpSpPr>
          <p:sp>
            <p:nvSpPr>
              <p:cNvPr id="24603" name="Line 45"/>
              <p:cNvSpPr>
                <a:spLocks noChangeShapeType="1"/>
              </p:cNvSpPr>
              <p:nvPr/>
            </p:nvSpPr>
            <p:spPr bwMode="auto">
              <a:xfrm>
                <a:off x="4968" y="26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04" name="Line 46"/>
              <p:cNvSpPr>
                <a:spLocks noChangeShapeType="1"/>
              </p:cNvSpPr>
              <p:nvPr/>
            </p:nvSpPr>
            <p:spPr bwMode="auto">
              <a:xfrm>
                <a:off x="4824" y="26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05" name="Line 47"/>
              <p:cNvSpPr>
                <a:spLocks noChangeShapeType="1"/>
              </p:cNvSpPr>
              <p:nvPr/>
            </p:nvSpPr>
            <p:spPr bwMode="auto">
              <a:xfrm>
                <a:off x="5112" y="26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06" name="Line 48"/>
              <p:cNvSpPr>
                <a:spLocks noChangeShapeType="1"/>
              </p:cNvSpPr>
              <p:nvPr/>
            </p:nvSpPr>
            <p:spPr bwMode="auto">
              <a:xfrm flipH="1">
                <a:off x="4824" y="2640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07" name="Line 49"/>
              <p:cNvSpPr>
                <a:spLocks noChangeShapeType="1"/>
              </p:cNvSpPr>
              <p:nvPr/>
            </p:nvSpPr>
            <p:spPr bwMode="auto">
              <a:xfrm flipH="1">
                <a:off x="4824" y="2784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4608" name="Line 50"/>
              <p:cNvSpPr>
                <a:spLocks noChangeShapeType="1"/>
              </p:cNvSpPr>
              <p:nvPr/>
            </p:nvSpPr>
            <p:spPr bwMode="auto">
              <a:xfrm flipH="1">
                <a:off x="4824" y="2928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24588" name="Rectangle 51"/>
            <p:cNvSpPr>
              <a:spLocks noChangeArrowheads="1"/>
            </p:cNvSpPr>
            <p:nvPr/>
          </p:nvSpPr>
          <p:spPr bwMode="auto">
            <a:xfrm>
              <a:off x="468" y="3456"/>
              <a:ext cx="6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000"/>
                <a:t>Texture</a:t>
              </a:r>
            </a:p>
          </p:txBody>
        </p:sp>
        <p:sp>
          <p:nvSpPr>
            <p:cNvPr id="24589" name="Rectangle 52"/>
            <p:cNvSpPr>
              <a:spLocks noChangeArrowheads="1"/>
            </p:cNvSpPr>
            <p:nvPr/>
          </p:nvSpPr>
          <p:spPr bwMode="auto">
            <a:xfrm>
              <a:off x="1690" y="3456"/>
              <a:ext cx="6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000"/>
                <a:t>Polygon</a:t>
              </a:r>
            </a:p>
          </p:txBody>
        </p:sp>
        <p:sp>
          <p:nvSpPr>
            <p:cNvPr id="24590" name="Rectangle 53"/>
            <p:cNvSpPr>
              <a:spLocks noChangeArrowheads="1"/>
            </p:cNvSpPr>
            <p:nvPr/>
          </p:nvSpPr>
          <p:spPr bwMode="auto">
            <a:xfrm>
              <a:off x="812" y="3686"/>
              <a:ext cx="103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000"/>
                <a:t>Magnification</a:t>
              </a:r>
            </a:p>
          </p:txBody>
        </p:sp>
        <p:sp>
          <p:nvSpPr>
            <p:cNvPr id="24591" name="Rectangle 54"/>
            <p:cNvSpPr>
              <a:spLocks noChangeArrowheads="1"/>
            </p:cNvSpPr>
            <p:nvPr/>
          </p:nvSpPr>
          <p:spPr bwMode="auto">
            <a:xfrm>
              <a:off x="4028" y="3686"/>
              <a:ext cx="92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000"/>
                <a:t>Minification</a:t>
              </a:r>
            </a:p>
          </p:txBody>
        </p:sp>
        <p:sp>
          <p:nvSpPr>
            <p:cNvPr id="24592" name="Rectangle 55"/>
            <p:cNvSpPr>
              <a:spLocks noChangeArrowheads="1"/>
            </p:cNvSpPr>
            <p:nvPr/>
          </p:nvSpPr>
          <p:spPr bwMode="auto">
            <a:xfrm>
              <a:off x="3406" y="2352"/>
              <a:ext cx="28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it-IT" altLang="it-IT"/>
            </a:p>
          </p:txBody>
        </p:sp>
        <p:sp>
          <p:nvSpPr>
            <p:cNvPr id="24593" name="Rectangle 56"/>
            <p:cNvSpPr>
              <a:spLocks noChangeArrowheads="1"/>
            </p:cNvSpPr>
            <p:nvPr/>
          </p:nvSpPr>
          <p:spPr bwMode="auto">
            <a:xfrm>
              <a:off x="4644" y="3456"/>
              <a:ext cx="65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000"/>
                <a:t>Polygon</a:t>
              </a:r>
            </a:p>
          </p:txBody>
        </p:sp>
        <p:sp>
          <p:nvSpPr>
            <p:cNvPr id="24594" name="Rectangle 57"/>
            <p:cNvSpPr>
              <a:spLocks noChangeArrowheads="1"/>
            </p:cNvSpPr>
            <p:nvPr/>
          </p:nvSpPr>
          <p:spPr bwMode="auto">
            <a:xfrm>
              <a:off x="3531" y="3456"/>
              <a:ext cx="6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it-IT" sz="2000"/>
                <a:t>Texture</a:t>
              </a:r>
            </a:p>
          </p:txBody>
        </p:sp>
        <p:sp>
          <p:nvSpPr>
            <p:cNvPr id="24595" name="Line 58"/>
            <p:cNvSpPr>
              <a:spLocks noChangeShapeType="1"/>
            </p:cNvSpPr>
            <p:nvPr/>
          </p:nvSpPr>
          <p:spPr bwMode="auto">
            <a:xfrm flipV="1">
              <a:off x="622" y="2208"/>
              <a:ext cx="816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596" name="Line 59"/>
            <p:cNvSpPr>
              <a:spLocks noChangeShapeType="1"/>
            </p:cNvSpPr>
            <p:nvPr/>
          </p:nvSpPr>
          <p:spPr bwMode="auto">
            <a:xfrm flipV="1">
              <a:off x="766" y="2208"/>
              <a:ext cx="1248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597" name="Line 60"/>
            <p:cNvSpPr>
              <a:spLocks noChangeShapeType="1"/>
            </p:cNvSpPr>
            <p:nvPr/>
          </p:nvSpPr>
          <p:spPr bwMode="auto">
            <a:xfrm flipV="1">
              <a:off x="622" y="2784"/>
              <a:ext cx="81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598" name="Line 61"/>
            <p:cNvSpPr>
              <a:spLocks noChangeShapeType="1"/>
            </p:cNvSpPr>
            <p:nvPr/>
          </p:nvSpPr>
          <p:spPr bwMode="auto">
            <a:xfrm flipV="1">
              <a:off x="814" y="2784"/>
              <a:ext cx="120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599" name="Line 62"/>
            <p:cNvSpPr>
              <a:spLocks noChangeShapeType="1"/>
            </p:cNvSpPr>
            <p:nvPr/>
          </p:nvSpPr>
          <p:spPr bwMode="auto">
            <a:xfrm>
              <a:off x="3694" y="2352"/>
              <a:ext cx="129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0" name="Line 63"/>
            <p:cNvSpPr>
              <a:spLocks noChangeShapeType="1"/>
            </p:cNvSpPr>
            <p:nvPr/>
          </p:nvSpPr>
          <p:spPr bwMode="auto">
            <a:xfrm>
              <a:off x="3694" y="2640"/>
              <a:ext cx="129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1" name="Line 64"/>
            <p:cNvSpPr>
              <a:spLocks noChangeShapeType="1"/>
            </p:cNvSpPr>
            <p:nvPr/>
          </p:nvSpPr>
          <p:spPr bwMode="auto">
            <a:xfrm>
              <a:off x="3406" y="2352"/>
              <a:ext cx="144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2" name="Line 65"/>
            <p:cNvSpPr>
              <a:spLocks noChangeShapeType="1"/>
            </p:cNvSpPr>
            <p:nvPr/>
          </p:nvSpPr>
          <p:spPr bwMode="auto">
            <a:xfrm>
              <a:off x="3406" y="2640"/>
              <a:ext cx="1392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aphicFrame>
        <p:nvGraphicFramePr>
          <p:cNvPr id="24648" name="Text Box 68">
            <a:extLst>
              <a:ext uri="{FF2B5EF4-FFF2-40B4-BE49-F238E27FC236}">
                <a16:creationId xmlns:a16="http://schemas.microsoft.com/office/drawing/2014/main" id="{CF046BAF-209E-58CD-2689-CDDD15B128DD}"/>
              </a:ext>
            </a:extLst>
          </p:cNvPr>
          <p:cNvGraphicFramePr/>
          <p:nvPr/>
        </p:nvGraphicFramePr>
        <p:xfrm>
          <a:off x="2057401" y="1447800"/>
          <a:ext cx="7736413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37881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Filter Modes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7772400" cy="12192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US" sz="2700">
                <a:ea typeface="ＭＳ Ｐゴシック" pitchFamily="-84" charset="-128"/>
                <a:cs typeface="ＭＳ Ｐゴシック" pitchFamily="-84" charset="-128"/>
              </a:rPr>
              <a:t>Modes determined by</a:t>
            </a:r>
          </a:p>
          <a:p>
            <a:pPr lvl="1">
              <a:buFontTx/>
              <a:buNone/>
              <a:defRPr/>
            </a:pPr>
            <a:r>
              <a:rPr lang="en-US" b="1">
                <a:latin typeface="Courier New" pitchFamily="-84" charset="0"/>
              </a:rPr>
              <a:t>gl.texParameteri( target, type, mode )</a:t>
            </a:r>
            <a:r>
              <a:rPr lang="en-US"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</a:p>
        </p:txBody>
      </p:sp>
      <p:sp>
        <p:nvSpPr>
          <p:cNvPr id="266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E4286D6D-4C68-421C-BEB3-C65BB96A8487}" type="slidenum">
              <a:rPr lang="es-ES" altLang="it-IT" sz="1000">
                <a:latin typeface="Arial" panose="020B0604020202020204" pitchFamily="34" charset="0"/>
              </a:rPr>
              <a:pPr lvl="1"/>
              <a:t>5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057401" y="2971801"/>
            <a:ext cx="8342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sz="2000" b="1">
                <a:latin typeface="Courier New" panose="02070309020205020404" pitchFamily="49" charset="0"/>
              </a:rPr>
              <a:t>gl.texParameteri(gl.TEXTURE_2D, gl.TEXURE_MAG_FILTER,</a:t>
            </a:r>
          </a:p>
          <a:p>
            <a:r>
              <a:rPr lang="en-US" altLang="it-IT" sz="2000" b="1">
                <a:latin typeface="Courier New" panose="02070309020205020404" pitchFamily="49" charset="0"/>
              </a:rPr>
              <a:t>             GL_NEAREST);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2057401" y="3962401"/>
            <a:ext cx="83423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sz="2000" b="1">
                <a:latin typeface="Courier New" panose="02070309020205020404" pitchFamily="49" charset="0"/>
              </a:rPr>
              <a:t>gl.texParameteri(gl.TEXTURE_2D, gl.TEXURE_MIN_FILTER,</a:t>
            </a:r>
          </a:p>
          <a:p>
            <a:r>
              <a:rPr lang="en-US" altLang="it-IT" sz="2000" b="1">
                <a:latin typeface="Courier New" panose="02070309020205020404" pitchFamily="49" charset="0"/>
              </a:rPr>
              <a:t>            gl.LINEAR);</a:t>
            </a:r>
          </a:p>
        </p:txBody>
      </p:sp>
    </p:spTree>
    <p:extLst>
      <p:ext uri="{BB962C8B-B14F-4D97-AF65-F5344CB8AC3E}">
        <p14:creationId xmlns:p14="http://schemas.microsoft.com/office/powerpoint/2010/main" val="2273835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Mipmapped Textures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lIns="90488" tIns="44450" rIns="90488" bIns="44450" rtlCol="0">
            <a:normAutofit/>
          </a:bodyPr>
          <a:lstStyle/>
          <a:p>
            <a:pPr marL="342900" indent="-342900"/>
            <a:r>
              <a:rPr lang="en-US" altLang="it-IT" i="1" dirty="0">
                <a:ea typeface="ＭＳ Ｐゴシック" panose="020B0600070205080204" pitchFamily="34" charset="-128"/>
              </a:rPr>
              <a:t>Mipmapping</a:t>
            </a:r>
            <a:r>
              <a:rPr lang="en-US" altLang="it-IT" dirty="0">
                <a:ea typeface="ＭＳ Ｐゴシック" panose="020B0600070205080204" pitchFamily="34" charset="-128"/>
              </a:rPr>
              <a:t> allows for prefiltered texture maps of decreasing resolutions</a:t>
            </a:r>
          </a:p>
          <a:p>
            <a:pPr marL="342900" indent="-342900"/>
            <a:r>
              <a:rPr lang="en-US" altLang="it-IT" dirty="0">
                <a:ea typeface="ＭＳ Ｐゴシック" panose="020B0600070205080204" pitchFamily="34" charset="-128"/>
              </a:rPr>
              <a:t>Lessens interpolation errors for smaller textured objects</a:t>
            </a:r>
          </a:p>
          <a:p>
            <a:pPr marL="342900" indent="-342900"/>
            <a:r>
              <a:rPr lang="en-US" altLang="it-IT" dirty="0">
                <a:ea typeface="ＭＳ Ｐゴシック" panose="020B0600070205080204" pitchFamily="34" charset="-128"/>
              </a:rPr>
              <a:t>Declare mipmap level during texture definition</a:t>
            </a:r>
          </a:p>
          <a:p>
            <a:pPr marL="742950" lvl="1" indent="-285750">
              <a:buNone/>
            </a:pPr>
            <a:r>
              <a:rPr lang="en-US" altLang="it-IT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gl.texImage2D(</a:t>
            </a:r>
            <a:r>
              <a:rPr lang="en-US" altLang="it-IT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gl.TEXTURE</a:t>
            </a:r>
            <a:r>
              <a:rPr lang="en-US" altLang="it-IT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_*D, level,</a:t>
            </a:r>
            <a:r>
              <a:rPr lang="en-US" altLang="it-IT" b="1" i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it-IT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… )</a:t>
            </a:r>
            <a:endParaRPr lang="en-US" altLang="it-IT" dirty="0">
              <a:ea typeface="ＭＳ Ｐゴシック" panose="020B0600070205080204" pitchFamily="34" charset="-128"/>
            </a:endParaRPr>
          </a:p>
          <a:p>
            <a:pPr marL="342900" indent="-342900">
              <a:buNone/>
            </a:pPr>
            <a:endParaRPr lang="en-US" altLang="it-IT" dirty="0">
              <a:ea typeface="ＭＳ Ｐゴシック" panose="020B0600070205080204" pitchFamily="34" charset="-128"/>
            </a:endParaRPr>
          </a:p>
        </p:txBody>
      </p:sp>
      <p:sp>
        <p:nvSpPr>
          <p:cNvPr id="276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5266120A-D4B6-424A-BBD0-C4652E5A3753}" type="slidenum">
              <a:rPr lang="es-ES" altLang="it-IT" sz="1000" smtClean="0">
                <a:latin typeface="Arial" panose="020B0604020202020204" pitchFamily="34" charset="0"/>
              </a:rPr>
              <a:pPr lvl="1"/>
              <a:t>6</a:t>
            </a:fld>
            <a:endParaRPr lang="es-ES" altLang="it-IT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5721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Example</a:t>
            </a:r>
          </a:p>
        </p:txBody>
      </p:sp>
      <p:sp>
        <p:nvSpPr>
          <p:cNvPr id="29701" name="Text Box 7"/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1447800" cy="914400"/>
          </a:xfrm>
          <a:noFill/>
        </p:spPr>
        <p:txBody>
          <a:bodyPr>
            <a:normAutofit fontScale="92500"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it-IT" sz="2400">
                <a:ea typeface="ＭＳ Ｐゴシック" panose="020B0600070205080204" pitchFamily="34" charset="-128"/>
              </a:rPr>
              <a:t>  point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400">
                <a:ea typeface="ＭＳ Ｐゴシック" panose="020B0600070205080204" pitchFamily="34" charset="-128"/>
              </a:rPr>
              <a:t>sampling</a:t>
            </a:r>
          </a:p>
        </p:txBody>
      </p:sp>
      <p:sp>
        <p:nvSpPr>
          <p:cNvPr id="2969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EE404B19-2EEE-427F-A8FB-CB1F4FB7352F}" type="slidenum">
              <a:rPr lang="es-ES" altLang="it-IT" sz="1000">
                <a:latin typeface="Arial" panose="020B0604020202020204" pitchFamily="34" charset="0"/>
              </a:rPr>
              <a:pPr lvl="1"/>
              <a:t>7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pic>
        <p:nvPicPr>
          <p:cNvPr id="29700" name="Picture 5" descr="C:\BOOK\OpenGL\Paul Final\Art\jpeg\an07f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524001"/>
            <a:ext cx="4791075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8"/>
          <p:cNvSpPr txBox="1">
            <a:spLocks noChangeArrowheads="1"/>
          </p:cNvSpPr>
          <p:nvPr/>
        </p:nvSpPr>
        <p:spPr bwMode="auto">
          <a:xfrm>
            <a:off x="1828800" y="4419600"/>
            <a:ext cx="1981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/>
          <a:lstStyle>
            <a:lvl1pPr marL="190500" indent="-1905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>
                <a:latin typeface="Arial" panose="020B0604020202020204" pitchFamily="34" charset="0"/>
              </a:rPr>
              <a:t>mipmapped</a:t>
            </a:r>
          </a:p>
          <a:p>
            <a:r>
              <a:rPr lang="en-US" altLang="it-IT">
                <a:latin typeface="Arial" panose="020B0604020202020204" pitchFamily="34" charset="0"/>
              </a:rPr>
              <a:t>   point</a:t>
            </a:r>
          </a:p>
          <a:p>
            <a:r>
              <a:rPr lang="en-US" altLang="it-IT">
                <a:latin typeface="Arial" panose="020B0604020202020204" pitchFamily="34" charset="0"/>
              </a:rPr>
              <a:t>sampling</a:t>
            </a:r>
          </a:p>
        </p:txBody>
      </p:sp>
      <p:sp>
        <p:nvSpPr>
          <p:cNvPr id="29703" name="Text Box 9"/>
          <p:cNvSpPr txBox="1">
            <a:spLocks noChangeArrowheads="1"/>
          </p:cNvSpPr>
          <p:nvPr/>
        </p:nvSpPr>
        <p:spPr bwMode="auto">
          <a:xfrm>
            <a:off x="8458200" y="4495800"/>
            <a:ext cx="1981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/>
          <a:lstStyle>
            <a:lvl1pPr marL="190500" indent="-1905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>
                <a:latin typeface="Arial" panose="020B0604020202020204" pitchFamily="34" charset="0"/>
              </a:rPr>
              <a:t>mipmapped</a:t>
            </a:r>
          </a:p>
          <a:p>
            <a:r>
              <a:rPr lang="en-US" altLang="it-IT">
                <a:latin typeface="Arial" panose="020B0604020202020204" pitchFamily="34" charset="0"/>
              </a:rPr>
              <a:t>   linear</a:t>
            </a:r>
          </a:p>
          <a:p>
            <a:r>
              <a:rPr lang="en-US" altLang="it-IT">
                <a:latin typeface="Arial" panose="020B0604020202020204" pitchFamily="34" charset="0"/>
              </a:rPr>
              <a:t>  filtering</a:t>
            </a:r>
          </a:p>
        </p:txBody>
      </p:sp>
      <p:sp>
        <p:nvSpPr>
          <p:cNvPr id="29704" name="Text Box 10"/>
          <p:cNvSpPr txBox="1">
            <a:spLocks noChangeArrowheads="1"/>
          </p:cNvSpPr>
          <p:nvPr/>
        </p:nvSpPr>
        <p:spPr bwMode="auto">
          <a:xfrm>
            <a:off x="8458200" y="1600200"/>
            <a:ext cx="198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/>
          <a:lstStyle>
            <a:lvl1pPr marL="190500" indent="-1905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>
                <a:latin typeface="Arial" panose="020B0604020202020204" pitchFamily="34" charset="0"/>
              </a:rPr>
              <a:t>   linear</a:t>
            </a:r>
          </a:p>
          <a:p>
            <a:r>
              <a:rPr lang="en-US" altLang="it-IT">
                <a:latin typeface="Arial" panose="020B0604020202020204" pitchFamily="34" charset="0"/>
              </a:rPr>
              <a:t>  filtering</a:t>
            </a:r>
          </a:p>
        </p:txBody>
      </p:sp>
    </p:spTree>
    <p:extLst>
      <p:ext uri="{BB962C8B-B14F-4D97-AF65-F5344CB8AC3E}">
        <p14:creationId xmlns:p14="http://schemas.microsoft.com/office/powerpoint/2010/main" val="405195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Applying Textures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lIns="90488" tIns="44450" rIns="90488" bIns="44450" rtlCol="0">
            <a:normAutofit fontScale="92500" lnSpcReduction="10000"/>
          </a:bodyPr>
          <a:lstStyle/>
          <a:p>
            <a:pPr marL="342900" indent="-342900"/>
            <a:r>
              <a:rPr lang="en-US" altLang="it-IT" sz="2700">
                <a:ea typeface="ＭＳ Ｐゴシック" panose="020B0600070205080204" pitchFamily="34" charset="-128"/>
              </a:rPr>
              <a:t>Texture can be applied in many ways</a:t>
            </a:r>
          </a:p>
          <a:p>
            <a:pPr marL="723900" lvl="1" indent="-342900"/>
            <a:r>
              <a:rPr lang="en-US" altLang="it-IT" sz="2200">
                <a:ea typeface="ＭＳ Ｐゴシック" panose="020B0600070205080204" pitchFamily="34" charset="-128"/>
              </a:rPr>
              <a:t>texture fully determines color</a:t>
            </a:r>
          </a:p>
          <a:p>
            <a:pPr marL="723900" lvl="1" indent="-342900"/>
            <a:r>
              <a:rPr lang="en-US" altLang="it-IT" sz="2200">
                <a:ea typeface="ＭＳ Ｐゴシック" panose="020B0600070205080204" pitchFamily="34" charset="-128"/>
              </a:rPr>
              <a:t>modulated with a computed color</a:t>
            </a:r>
          </a:p>
          <a:p>
            <a:pPr marL="723900" lvl="1" indent="-342900"/>
            <a:r>
              <a:rPr lang="en-US" altLang="it-IT" sz="2200">
                <a:ea typeface="ＭＳ Ｐゴシック" panose="020B0600070205080204" pitchFamily="34" charset="-128"/>
              </a:rPr>
              <a:t>blended with and environmental color</a:t>
            </a:r>
          </a:p>
          <a:p>
            <a:pPr marL="342900" indent="-342900"/>
            <a:r>
              <a:rPr lang="en-US" altLang="it-IT" sz="2700">
                <a:ea typeface="ＭＳ Ｐゴシック" panose="020B0600070205080204" pitchFamily="34" charset="-128"/>
              </a:rPr>
              <a:t>Fixed function pipeline has a function glTexEnv to set mode</a:t>
            </a:r>
          </a:p>
          <a:p>
            <a:pPr marL="723900" lvl="1" indent="-342900"/>
            <a:r>
              <a:rPr lang="en-US" altLang="it-IT" sz="2200">
                <a:ea typeface="ＭＳ Ｐゴシック" panose="020B0600070205080204" pitchFamily="34" charset="-128"/>
              </a:rPr>
              <a:t>deprecated</a:t>
            </a:r>
          </a:p>
          <a:p>
            <a:pPr marL="723900" lvl="1" indent="-342900"/>
            <a:r>
              <a:rPr lang="en-US" altLang="it-IT" sz="2200">
                <a:ea typeface="ＭＳ Ｐゴシック" panose="020B0600070205080204" pitchFamily="34" charset="-128"/>
              </a:rPr>
              <a:t>can get all desired functionality via fragment shader</a:t>
            </a:r>
          </a:p>
          <a:p>
            <a:pPr marL="342900" indent="-342900"/>
            <a:r>
              <a:rPr lang="en-US" altLang="it-IT" sz="2700">
                <a:ea typeface="ＭＳ Ｐゴシック" panose="020B0600070205080204" pitchFamily="34" charset="-128"/>
              </a:rPr>
              <a:t>Can also use multiple texture units</a:t>
            </a:r>
          </a:p>
          <a:p>
            <a:pPr marL="723900" lvl="1" indent="-342900"/>
            <a:endParaRPr lang="en-US" altLang="it-IT" sz="1500" b="1" i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695DBFC3-870C-47B2-9A75-6CB46EED3AE2}" type="slidenum">
              <a:rPr lang="es-ES" altLang="it-IT" sz="1000">
                <a:latin typeface="Arial" panose="020B0604020202020204" pitchFamily="34" charset="0"/>
              </a:rPr>
              <a:pPr lvl="1"/>
              <a:t>8</a:t>
            </a:fld>
            <a:endParaRPr lang="es-ES" altLang="it-IT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5775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Applying Textures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Textures are applied during fragments shading by a </a:t>
            </a:r>
            <a:r>
              <a:rPr lang="en-US" altLang="it-IT" b="1">
                <a:ea typeface="ＭＳ Ｐゴシック" panose="020B0600070205080204" pitchFamily="34" charset="-128"/>
              </a:rPr>
              <a:t>sampler</a:t>
            </a:r>
          </a:p>
          <a:p>
            <a:r>
              <a:rPr lang="en-US" altLang="it-IT">
                <a:ea typeface="ＭＳ Ｐゴシック" panose="020B0600070205080204" pitchFamily="34" charset="-128"/>
              </a:rPr>
              <a:t>Samplers return a texture color from a texture object</a:t>
            </a:r>
            <a:endParaRPr lang="en-US" altLang="it-IT" b="1">
              <a:ea typeface="ＭＳ Ｐゴシック" panose="020B0600070205080204" pitchFamily="34" charset="-128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B098E94C-FD9D-4C2B-84F7-05B3E3EDBCB4}" type="slidenum">
              <a:rPr lang="es-ES" altLang="it-IT" sz="1000">
                <a:latin typeface="Arial" panose="020B0604020202020204" pitchFamily="34" charset="0"/>
              </a:rPr>
              <a:pPr lvl="1"/>
              <a:t>9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514601" y="3581401"/>
            <a:ext cx="7751763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/>
              <a:t>varying vec4 color;  //color from rasterizer</a:t>
            </a:r>
          </a:p>
          <a:p>
            <a:r>
              <a:rPr lang="en-US" altLang="it-IT"/>
              <a:t>varying vec2 texCoord; //texture coordinate from rasterizer</a:t>
            </a:r>
          </a:p>
          <a:p>
            <a:r>
              <a:rPr lang="en-US" altLang="it-IT"/>
              <a:t>uniform sampler2D texture; //texture object from application</a:t>
            </a:r>
          </a:p>
          <a:p>
            <a:endParaRPr lang="en-US" altLang="it-IT"/>
          </a:p>
          <a:p>
            <a:r>
              <a:rPr lang="en-US" altLang="it-IT"/>
              <a:t>void main()  { </a:t>
            </a:r>
          </a:p>
          <a:p>
            <a:r>
              <a:rPr lang="en-US" altLang="it-IT"/>
              <a:t>    gl_FragColor = color * texture2D( texture, texCoord );</a:t>
            </a:r>
          </a:p>
          <a:p>
            <a:r>
              <a:rPr lang="en-US" altLang="it-IT"/>
              <a:t>} </a:t>
            </a:r>
          </a:p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74864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Vertex Shader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Usually vertex shader will output texture coordinates to be rasterized</a:t>
            </a:r>
          </a:p>
          <a:p>
            <a:r>
              <a:rPr lang="en-US" altLang="it-IT">
                <a:ea typeface="ＭＳ Ｐゴシック" panose="020B0600070205080204" pitchFamily="34" charset="-128"/>
              </a:rPr>
              <a:t>Must do all other standard tasks too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Compute vertex position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Compute vertex color if needed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0B22CA87-84A7-4966-B1C7-9694F8C8B794}" type="slidenum">
              <a:rPr lang="es-ES" altLang="it-IT" sz="1000">
                <a:latin typeface="Arial" panose="020B0604020202020204" pitchFamily="34" charset="0"/>
              </a:rPr>
              <a:pPr lvl="1"/>
              <a:t>10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sp>
        <p:nvSpPr>
          <p:cNvPr id="34821" name="TextBox 5"/>
          <p:cNvSpPr txBox="1">
            <a:spLocks noChangeArrowheads="1"/>
          </p:cNvSpPr>
          <p:nvPr/>
        </p:nvSpPr>
        <p:spPr bwMode="auto">
          <a:xfrm>
            <a:off x="2286000" y="4179888"/>
            <a:ext cx="82296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/>
              <a:t>attribute vec4 vPosition; //vertex position in object coordinates</a:t>
            </a:r>
          </a:p>
          <a:p>
            <a:r>
              <a:rPr lang="en-US" altLang="it-IT"/>
              <a:t>attribute vec4 vColor;  //vertex color from application</a:t>
            </a:r>
          </a:p>
          <a:p>
            <a:r>
              <a:rPr lang="en-US" altLang="it-IT"/>
              <a:t>attribute vec2 vTexCoord; //texture coordinate from application </a:t>
            </a:r>
          </a:p>
          <a:p>
            <a:endParaRPr lang="en-US" altLang="it-IT"/>
          </a:p>
          <a:p>
            <a:r>
              <a:rPr lang="en-US" altLang="it-IT"/>
              <a:t>varying vec4 color; //output color to be interpolated</a:t>
            </a:r>
          </a:p>
          <a:p>
            <a:r>
              <a:rPr lang="en-US" altLang="it-IT"/>
              <a:t>varying vec2 texCoord; //output tex coordinate to be interpolated</a:t>
            </a:r>
          </a:p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6730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 Checkerboard Image</a:t>
            </a: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sz="1400"/>
              <a:t>Angel and Shreiner: Interactive Computer Graphics 7E © Addison-Wesley 2015 </a:t>
            </a:r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E0724909-9852-47B7-8A1B-1E653D28DCBB}" type="slidenum">
              <a:rPr lang="es-ES" altLang="it-IT" sz="1000">
                <a:latin typeface="Arial" panose="020B0604020202020204" pitchFamily="34" charset="0"/>
              </a:rPr>
              <a:pPr lvl="1"/>
              <a:t>11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1828800" y="1593851"/>
            <a:ext cx="83820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/>
              <a:t>var image1 = new Uint8Array(4*texSize*texSize);</a:t>
            </a:r>
          </a:p>
          <a:p>
            <a:r>
              <a:rPr lang="en-US" altLang="it-IT"/>
              <a:t>    for ( var i = 0; i &lt; texSize; i++ ) {</a:t>
            </a:r>
          </a:p>
          <a:p>
            <a:r>
              <a:rPr lang="en-US" altLang="it-IT"/>
              <a:t>        for ( var j = 0; j &lt;texSize; j++ ) {</a:t>
            </a:r>
          </a:p>
          <a:p>
            <a:r>
              <a:rPr lang="en-US" altLang="it-IT"/>
              <a:t>            var patchx = Math.floor(i/(texSize/numChecks));</a:t>
            </a:r>
          </a:p>
          <a:p>
            <a:r>
              <a:rPr lang="en-US" altLang="it-IT"/>
              <a:t>            var patchy = Math.floor(j/(texSize/numChecks));</a:t>
            </a:r>
          </a:p>
          <a:p>
            <a:r>
              <a:rPr lang="en-US" altLang="it-IT"/>
              <a:t>            if(patchx%2 ^ patchy%2) c = 255;</a:t>
            </a:r>
          </a:p>
          <a:p>
            <a:r>
              <a:rPr lang="en-US" altLang="it-IT"/>
              <a:t>            else c = 0;</a:t>
            </a:r>
          </a:p>
          <a:p>
            <a:r>
              <a:rPr lang="en-US" altLang="it-IT"/>
              <a:t>            //c = 255*(((i &amp; 0x8) == 0) ^ ((j &amp; 0x8)  == 0))</a:t>
            </a:r>
          </a:p>
          <a:p>
            <a:r>
              <a:rPr lang="en-US" altLang="it-IT"/>
              <a:t>            image1[4*i*texSize+4*j] = c;</a:t>
            </a:r>
          </a:p>
          <a:p>
            <a:r>
              <a:rPr lang="en-US" altLang="it-IT"/>
              <a:t>            image1[4*i*texSize+4*j+1] = c;</a:t>
            </a:r>
          </a:p>
          <a:p>
            <a:r>
              <a:rPr lang="en-US" altLang="it-IT"/>
              <a:t>            image1[4*i*texSize+4*j+2] = c;</a:t>
            </a:r>
          </a:p>
          <a:p>
            <a:r>
              <a:rPr lang="en-US" altLang="it-IT"/>
              <a:t>            image1[4*i*texSize+4*j+3] = 255;</a:t>
            </a:r>
          </a:p>
          <a:p>
            <a:r>
              <a:rPr lang="en-US" altLang="it-IT"/>
              <a:t>        }</a:t>
            </a:r>
          </a:p>
          <a:p>
            <a:r>
              <a:rPr lang="en-US" altLang="it-IT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233058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Cube Example</a:t>
            </a:r>
          </a:p>
        </p:txBody>
      </p:sp>
      <p:sp>
        <p:nvSpPr>
          <p:cNvPr id="36868" name="Text Box 6"/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7772400" cy="3962400"/>
          </a:xfrm>
          <a:noFill/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var texCoord = [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vec2(0, 0),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vec2(0, 1),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vec2(1, 1),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vec2(1,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];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function quad(a, b, c, d)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 pointsArray.push(vertices[a]);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 colorsArray.push(vertexColors[a]);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 texCoordsArray.push(texCoord[0]);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it-IT" sz="2000"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 pointsArray.push(vertices[b]);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  colorsArray.push(vertexColors[a]);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     texCoordsArray.push(texCoord[1]);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 sz="2000">
                <a:ea typeface="ＭＳ Ｐゴシック" panose="020B0600070205080204" pitchFamily="34" charset="-128"/>
              </a:rPr>
              <a:t>// etc </a:t>
            </a:r>
            <a:endParaRPr lang="en-US" altLang="it-IT" sz="2000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368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6D30C4E8-942E-4C9D-BA28-E8BCE1898FBF}" type="slidenum">
              <a:rPr lang="es-ES" altLang="it-IT" sz="1000">
                <a:latin typeface="Arial" panose="020B0604020202020204" pitchFamily="34" charset="0"/>
              </a:rPr>
              <a:pPr lvl="1"/>
              <a:t>12</a:t>
            </a:fld>
            <a:endParaRPr lang="es-ES" altLang="it-IT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18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Texture Object</a:t>
            </a: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B2B9827E-9A54-424A-82B3-97A918795A2C}" type="slidenum">
              <a:rPr lang="es-ES" altLang="it-IT" sz="1000">
                <a:latin typeface="Arial" panose="020B0604020202020204" pitchFamily="34" charset="0"/>
              </a:rPr>
              <a:pPr lvl="1"/>
              <a:t>13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1" y="915989"/>
            <a:ext cx="9166225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/>
              <a:t>   </a:t>
            </a:r>
          </a:p>
          <a:p>
            <a:endParaRPr lang="en-US" altLang="it-IT" sz="2000"/>
          </a:p>
          <a:p>
            <a:r>
              <a:rPr lang="en-US" altLang="it-IT"/>
              <a:t>function configureTexture( image ) {</a:t>
            </a:r>
          </a:p>
          <a:p>
            <a:r>
              <a:rPr lang="en-US" altLang="it-IT"/>
              <a:t>       var texture = gl.createTexture();</a:t>
            </a:r>
          </a:p>
          <a:p>
            <a:r>
              <a:rPr lang="en-US" altLang="it-IT"/>
              <a:t>       gl.bindTexture( gl.TEXTURE_2D, texture );</a:t>
            </a:r>
          </a:p>
          <a:p>
            <a:r>
              <a:rPr lang="en-US" altLang="it-IT"/>
              <a:t>       gl.pixelStorei(gl.UNPACK_FLIP_Y_WEBGL, true);</a:t>
            </a:r>
          </a:p>
          <a:p>
            <a:r>
              <a:rPr lang="en-US" altLang="it-IT"/>
              <a:t>       gl.texImage2D( gl.TEXTURE_2D, 0, gl.RGB,</a:t>
            </a:r>
          </a:p>
          <a:p>
            <a:r>
              <a:rPr lang="en-US" altLang="it-IT"/>
              <a:t>             gl.RGB, gl.UNSIGNED_BYTE, image );</a:t>
            </a:r>
          </a:p>
          <a:p>
            <a:r>
              <a:rPr lang="en-US" altLang="it-IT"/>
              <a:t>       gl.generateMipmap( gl.TEXTURE_2D );</a:t>
            </a:r>
          </a:p>
          <a:p>
            <a:r>
              <a:rPr lang="en-US" altLang="it-IT"/>
              <a:t>       gl.texParameteri( gl.TEXTURE_2D, gl.TEXTURE_MIN_FILTER,</a:t>
            </a:r>
          </a:p>
          <a:p>
            <a:r>
              <a:rPr lang="en-US" altLang="it-IT"/>
              <a:t>                       gl.NEAREST_MIPMAP_LINEAR );</a:t>
            </a:r>
          </a:p>
          <a:p>
            <a:r>
              <a:rPr lang="en-US" altLang="it-IT"/>
              <a:t>       gl.texParameteri( gl.TEXTURE_2D, gl.TEXTURE_MAG_FILTER, </a:t>
            </a:r>
          </a:p>
          <a:p>
            <a:r>
              <a:rPr lang="en-US" altLang="it-IT"/>
              <a:t>                       gl.NEAREST );</a:t>
            </a:r>
          </a:p>
          <a:p>
            <a:r>
              <a:rPr lang="en-US" altLang="it-IT"/>
              <a:t>        gl.activeTexture(gl.TEXTURE0);</a:t>
            </a:r>
          </a:p>
          <a:p>
            <a:r>
              <a:rPr lang="en-US" altLang="it-IT"/>
              <a:t>        gl.uniform1i(gl.getUniformLocation(program, "texture"), 0);</a:t>
            </a:r>
          </a:p>
          <a:p>
            <a:r>
              <a:rPr lang="en-US" altLang="it-IT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6705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Linking with Shaders</a:t>
            </a: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22EE2732-5EE4-4A17-AD5D-75DBB4EB6B86}" type="slidenum">
              <a:rPr lang="es-ES" altLang="it-IT" sz="1000">
                <a:latin typeface="Arial" panose="020B0604020202020204" pitchFamily="34" charset="0"/>
              </a:rPr>
              <a:pPr lvl="1"/>
              <a:t>14</a:t>
            </a:fld>
            <a:endParaRPr lang="es-ES" altLang="it-IT" sz="1000">
              <a:latin typeface="Arial" panose="020B0604020202020204" pitchFamily="34" charset="0"/>
            </a:endParaRPr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828800" y="1828800"/>
            <a:ext cx="90043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/>
              <a:t>    var vTexCoord = gl.getAttribLocation( program, "vTexCoord" );</a:t>
            </a:r>
          </a:p>
          <a:p>
            <a:r>
              <a:rPr lang="en-US" altLang="it-IT"/>
              <a:t>    gl.enableVertexAttribArray( vTexCoord );</a:t>
            </a:r>
          </a:p>
          <a:p>
            <a:r>
              <a:rPr lang="en-US" altLang="it-IT"/>
              <a:t>    gl.vertexAttribPointer( vTexCoord, 2, gl.FLOAT, false, 0, 0);</a:t>
            </a:r>
          </a:p>
          <a:p>
            <a:endParaRPr lang="en-US" altLang="it-IT"/>
          </a:p>
          <a:p>
            <a:r>
              <a:rPr lang="en-US" altLang="it-IT"/>
              <a:t>    // Set the value of the fragment shader texture sampler variable</a:t>
            </a:r>
          </a:p>
          <a:p>
            <a:r>
              <a:rPr lang="en-US" altLang="it-IT"/>
              <a:t>    //   ("texture") to the the appropriate texture unit. In this case,</a:t>
            </a:r>
          </a:p>
          <a:p>
            <a:r>
              <a:rPr lang="en-US" altLang="it-IT"/>
              <a:t>    //   zero for GL_TEXTURE0 which was previously set by calling</a:t>
            </a:r>
          </a:p>
          <a:p>
            <a:r>
              <a:rPr lang="en-US" altLang="it-IT"/>
              <a:t>    //   gl.activeTexture().</a:t>
            </a:r>
          </a:p>
          <a:p>
            <a:endParaRPr lang="en-US" altLang="it-IT"/>
          </a:p>
          <a:p>
            <a:r>
              <a:rPr lang="en-US" altLang="it-IT"/>
              <a:t>    gl.uniform1i( glGetUniformLocation(program, "texture"), 0 );</a:t>
            </a:r>
          </a:p>
        </p:txBody>
      </p:sp>
    </p:spTree>
    <p:extLst>
      <p:ext uri="{BB962C8B-B14F-4D97-AF65-F5344CB8AC3E}">
        <p14:creationId xmlns:p14="http://schemas.microsoft.com/office/powerpoint/2010/main" val="341442225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1122</Words>
  <Application>Microsoft Office PowerPoint</Application>
  <PresentationFormat>Widescreen</PresentationFormat>
  <Paragraphs>172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Aptos</vt:lpstr>
      <vt:lpstr>Arial</vt:lpstr>
      <vt:lpstr>Century Gothic</vt:lpstr>
      <vt:lpstr>Courier New</vt:lpstr>
      <vt:lpstr>Times New Roman</vt:lpstr>
      <vt:lpstr>Wingdings 3</vt:lpstr>
      <vt:lpstr>Wisp</vt:lpstr>
      <vt:lpstr>Using Texture Objects</vt:lpstr>
      <vt:lpstr>Texture Parameters</vt:lpstr>
      <vt:lpstr>Wrapping Mode</vt:lpstr>
      <vt:lpstr>Magnification and Minification</vt:lpstr>
      <vt:lpstr>Filter Modes</vt:lpstr>
      <vt:lpstr>Mipmapped Textures</vt:lpstr>
      <vt:lpstr>Example</vt:lpstr>
      <vt:lpstr>Applying Textures</vt:lpstr>
      <vt:lpstr>Applying Textures</vt:lpstr>
      <vt:lpstr>Vertex Shader</vt:lpstr>
      <vt:lpstr>A Checkerboard Image</vt:lpstr>
      <vt:lpstr>Cube Example</vt:lpstr>
      <vt:lpstr>Texture Object</vt:lpstr>
      <vt:lpstr>Linking with Shaders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Abbasi, Ubaid</dc:creator>
  <cp:lastModifiedBy>Abbasi, Ubaid</cp:lastModifiedBy>
  <cp:revision>3</cp:revision>
  <dcterms:created xsi:type="dcterms:W3CDTF">2025-10-23T15:14:50Z</dcterms:created>
  <dcterms:modified xsi:type="dcterms:W3CDTF">2025-10-23T15:30:41Z</dcterms:modified>
</cp:coreProperties>
</file>